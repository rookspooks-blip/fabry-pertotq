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Здравствуйте. Нас зовут Егор Сидоренко, Артём Кузнецов и Илья Кадников, мы студенты МГТУ имени Баумана, группы ИБМ5-31Б и ИБМ2-32Б. Представляем проект, выполненный в рамках СЭЛФ: математическую модель интерферометра Фабри-Перо и виртуальную лабораторную работу, построенную на этой модели. Картина колец на слайде получена расчётом по нашей модели.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Цель работы: построить математическую модель многолучевой интерференции в интерферометре Фабри-Перо и на её основе разработать методику измерения длины световой волны. Для этого поставлены четыре задачи. Первая: вывести формулу Эйри и получить из неё характеристики прибора. Вторая: получить закон радиусов колец равного наклона и доказать равенство площадей зон между соседними кольцами. Третья: определить границы применимости модели. Четвёртая: разработать три независимых способа измерения длины волны с обработкой методом наименьших квадратов. Актуальность определяется тем, что реальный интерферометр является дорогим прибором и редко доступен в учебных лабораториях, а модель позволяет изучить явление количественно.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Выведем формулу Эйри. Свет многократно отражается между двумя зеркалами. При каждом отражении амплитуда умножается на корень из R, а соседние лучи сдвинуты по фазе на величину дельта, равную четыре пи n d косинус тэта, делённому на лямбда. Амплитуда прошедшей волны есть сумма бесконечной геометрической прогрессии и равна t в квадрате, делённому на единицу минус R на е в степени i дельта. Интенсивность определяется квадратом модуля этой величины: T равно T-макс, делённому на единицу плюс F на синус квадрат дельта пополам, где F равно четыре R, делённому на единицу минус R в квадрате. Максимумы пропускания наблюдаются при дельта, равной два пи m. Справа приведён рассчитанный график пропускания.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Из формулы Эйри следуют все характеристики прибора. Область свободной дисперсии, то есть расстояние между соседними пиками, равна лямбда в квадрате, делённому на два n d. Для He-Ne лазера при зазоре пять миллиметров она составляет около сорока пикометров. Ширина пика равна приблизительно 1,3 пикометра. Их отношение, резкость, приближённо равно пи корень из R, делённому на единицу минус R, и составляет около тридцати. Разрешающая способность, равная отношению лямбда к ширине пика, достигает приблизительно 470 тысяч. Две спектральные линии считаются разрешёнными, если провал между ними не превышает 0,81 максимума. Это значение соответствует критерию Рэлея для дифракционной решётки. Для пиков Эйри оно достигается при разности длин волн, примерно в 1,03 раза превышающей ширину пика.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Кольца образуются потому, что линза собирает в одну окружность лучи с одинаковым углом наклона. Условие светлого кольца: два n d косинус тэта равно m лямбда. Для радиусов колец получаем: r в квадрате равно f в квадрате n лямбда, делённому на d, умноженному на k минус единица плюс эпсилон, где эпсилон - дробная часть порядка интерференции в центре. Следовательно, квадрат радиуса линейно зависит от номера кольца, а площади между соседними кольцами одинаковы и равны пи f в квадрате n лямбда, делённому на d. По наклону прямой r в квадрате от k определяется длина волны. Справа показано, как изменяется картина при коэффициенте отражения 0,5, 0,9 и 0,98: чем ближе R к единице, тем уже светлые кольца.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Рассмотрим допущения модели. Излучение считается монохроматическим, зеркала плоскими и параллельными. Используется приближение малых углов: на краю экрана отклонение от закона «квадрат радиуса пропорционален номеру кольца» составляет 0,2 процента. Поглощение зеркал учитывается и снижает высоту пиков. Если экран расположен не в фокальной плоскости линзы, кольца размываются: при смещении на один миллиметр радиус кружка размытия равен 25 микрометрам. Отдельно рассмотрен вопрос о природе светлого пятна в центре картины. Это интерференция: в центре разность хода лучей близка к целому числу длин волн. Пятно Пуассона, напротив, является результатом дифракции на диске. Общее у обоих явлений состоит в том, что складываются когерентные волны с учётом их фаз.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 основе модели разработана лабораторная работа, в которой длина волны определяется тремя независимыми способами. Первый способ: по расстоянию между пиками. Так как дельта лямбда равна лямбда в квадрате, делённому на два n d, график зависимости дельта лямбда от единицы на d является прямой, а её наклон определяет лямбда. Второй способ: по радиусам колец, квадрат радиуса пропорционален номеру кольца. Третий способ: по сдвигу зеркала, так как при смещении на половину длины волны в центре возникает новое кольцо. Прямые проводятся методом наименьших квадратов, погрешность оценивается с помощью коэффициента Стьюдента. В качестве примера: при скрытой длине волны 454,6 нанометра студент получил 456,7 плюс-минус 2,3, то есть относительная ошибка составила около 0,5 процента. Лабораторная работа включает семь заданий и тридцать вариантов со скрытыми величинами.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Правильность модели проверена несколькими способами. Прямое суммирование 800 отражённых лучей совпадает с формулой Эйри. Расчёты программы расходятся с точными формулами менее чем на 0,1 процента, что подтверждено 30 автоматическими тестами. Модель реализована на языке Python и работает на Windows, macOS и Linux. В работе принимали участие трое: Артём Кузнецов отвечал за физическую часть, Егор Сидоренко за визуализацию и обработку результатов, Илья Кадников за программную реализацию. В дальнейшем планируется апробация лабораторной работы в учебной группе и расширение модели интерферометрами Майкельсона и Юнга. Благодарим за внимание.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pic>
        <p:nvPicPr>
          <p:cNvPr id="2" name="Image 0" descr="/tmp/claude-0/-home-user-fabry-pertotq/da6804cf-1b2d-5442-843e-f7000ad32be1/scratchpad/deck/rings_circle.png">    </p:cNvPr>
          <p:cNvPicPr>
            <a:picLocks noChangeAspect="1"/>
          </p:cNvPicPr>
          <p:nvPr/>
        </p:nvPicPr>
        <p:blipFill>
          <a:blip r:embed="rId1"/>
          <a:stretch>
            <a:fillRect/>
          </a:stretch>
        </p:blipFill>
        <p:spPr>
          <a:xfrm>
            <a:off x="5394960" y="685800"/>
            <a:ext cx="3291840" cy="3291840"/>
          </a:xfrm>
          <a:prstGeom prst="rect">
            <a:avLst/>
          </a:prstGeom>
        </p:spPr>
      </p:pic>
      <p:sp>
        <p:nvSpPr>
          <p:cNvPr id="3" name="Text 0"/>
          <p:cNvSpPr txBox="1"/>
          <p:nvPr/>
        </p:nvSpPr>
        <p:spPr>
          <a:xfrm>
            <a:off x="457200" y="822960"/>
            <a:ext cx="4754880" cy="14630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Интерферометр</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Фабри - Перо</a:t>
            </a:r>
            <a:endParaRPr lang="en-US" sz="4000" dirty="0"/>
          </a:p>
        </p:txBody>
      </p:sp>
      <p:sp>
        <p:nvSpPr>
          <p:cNvPr id="4" name="Text 1"/>
          <p:cNvSpPr txBox="1"/>
          <p:nvPr/>
        </p:nvSpPr>
        <p:spPr>
          <a:xfrm>
            <a:off x="457200" y="2423160"/>
            <a:ext cx="4572000" cy="1143000"/>
          </a:xfrm>
          <a:prstGeom prst="rect">
            <a:avLst/>
          </a:prstGeom>
          <a:noFill/>
          <a:ln/>
        </p:spPr>
        <p:txBody>
          <a:bodyPr wrap="square" lIns="0" tIns="0" rIns="0" bIns="0" rtlCol="0" anchor="t"/>
          <a:lstStyle/>
          <a:p>
            <a:pPr indent="0" marL="0">
              <a:buNone/>
            </a:pPr>
            <a:r>
              <a:rPr lang="en-US" sz="2000" dirty="0">
                <a:solidFill>
                  <a:srgbClr val="22C7B0"/>
                </a:solidFill>
                <a:latin typeface="Calibri" pitchFamily="34" charset="0"/>
                <a:ea typeface="Calibri" pitchFamily="34" charset="-122"/>
                <a:cs typeface="Calibri" pitchFamily="34" charset="-120"/>
              </a:rPr>
              <a:t>Модель многолучевой интерференции света и виртуальная лабораторная работа</a:t>
            </a:r>
            <a:endParaRPr lang="en-US" sz="2000" dirty="0"/>
          </a:p>
        </p:txBody>
      </p:sp>
      <p:sp>
        <p:nvSpPr>
          <p:cNvPr id="5" name="Text 2"/>
          <p:cNvSpPr txBox="1"/>
          <p:nvPr/>
        </p:nvSpPr>
        <p:spPr>
          <a:xfrm>
            <a:off x="457200" y="3977640"/>
            <a:ext cx="5486400" cy="274320"/>
          </a:xfrm>
          <a:prstGeom prst="rect">
            <a:avLst/>
          </a:prstGeom>
          <a:noFill/>
          <a:ln/>
        </p:spPr>
        <p:txBody>
          <a:bodyPr wrap="square" lIns="0" tIns="0" rIns="0" bIns="0" rtlCol="0" anchor="ctr"/>
          <a:lstStyle/>
          <a:p>
            <a:pPr indent="0" marL="0">
              <a:buNone/>
            </a:pPr>
            <a:r>
              <a:rPr lang="en-US" sz="1400" dirty="0">
                <a:solidFill>
                  <a:srgbClr val="C9D4E5"/>
                </a:solidFill>
                <a:latin typeface="Calibri" pitchFamily="34" charset="0"/>
                <a:ea typeface="Calibri" pitchFamily="34" charset="-122"/>
                <a:cs typeface="Calibri" pitchFamily="34" charset="-120"/>
              </a:rPr>
              <a:t>Проект СЭЛФ · МГТУ им. Н. Э. Баумана</a:t>
            </a:r>
            <a:endParaRPr lang="en-US" sz="1400" dirty="0"/>
          </a:p>
        </p:txBody>
      </p:sp>
      <p:sp>
        <p:nvSpPr>
          <p:cNvPr id="6" name="Text 3"/>
          <p:cNvSpPr txBox="1"/>
          <p:nvPr/>
        </p:nvSpPr>
        <p:spPr>
          <a:xfrm>
            <a:off x="457200" y="4297680"/>
            <a:ext cx="8229600" cy="274320"/>
          </a:xfrm>
          <a:prstGeom prst="rect">
            <a:avLst/>
          </a:prstGeom>
          <a:noFill/>
          <a:ln/>
        </p:spPr>
        <p:txBody>
          <a:bodyPr wrap="square" lIns="0" tIns="0" rIns="0" bIns="0" rtlCol="0" anchor="ctr"/>
          <a:lstStyle/>
          <a:p>
            <a:pPr indent="0" marL="0">
              <a:buNone/>
            </a:pPr>
            <a:r>
              <a:rPr lang="en-US" sz="1200" dirty="0">
                <a:solidFill>
                  <a:srgbClr val="8FA0B8"/>
                </a:solidFill>
                <a:latin typeface="Calibri" pitchFamily="34" charset="0"/>
                <a:ea typeface="Calibri" pitchFamily="34" charset="-122"/>
                <a:cs typeface="Calibri" pitchFamily="34" charset="-120"/>
              </a:rPr>
              <a:t>Сидоренко Е. К. (ИБМ5-31Б) · Кузнецов А. В. · Кадников И. В. (ИБМ2-32Б)</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Цель и задачи</a:t>
            </a:r>
            <a:endParaRPr lang="en-US" sz="3000" dirty="0"/>
          </a:p>
        </p:txBody>
      </p:sp>
      <p:sp>
        <p:nvSpPr>
          <p:cNvPr id="3" name="Shape 1"/>
          <p:cNvSpPr/>
          <p:nvPr/>
        </p:nvSpPr>
        <p:spPr>
          <a:xfrm>
            <a:off x="457200" y="1143000"/>
            <a:ext cx="3566160" cy="3246120"/>
          </a:xfrm>
          <a:prstGeom prst="roundRect">
            <a:avLst>
              <a:gd name="adj" fmla="val 3380"/>
            </a:avLst>
          </a:prstGeom>
          <a:solidFill>
            <a:srgbClr val="EEF3F8"/>
          </a:solidFill>
          <a:ln w="12700">
            <a:solidFill>
              <a:srgbClr val="EEF3F8"/>
            </a:solidFill>
            <a:prstDash val="solid"/>
          </a:ln>
        </p:spPr>
      </p:sp>
      <p:sp>
        <p:nvSpPr>
          <p:cNvPr id="4" name="Text 2"/>
          <p:cNvSpPr txBox="1"/>
          <p:nvPr/>
        </p:nvSpPr>
        <p:spPr>
          <a:xfrm>
            <a:off x="685800" y="1280160"/>
            <a:ext cx="3108960" cy="365760"/>
          </a:xfrm>
          <a:prstGeom prst="rect">
            <a:avLst/>
          </a:prstGeom>
          <a:noFill/>
          <a:ln/>
        </p:spPr>
        <p:txBody>
          <a:bodyPr wrap="square" lIns="0" tIns="0" rIns="0" bIns="0" rtlCol="0" anchor="ctr"/>
          <a:lstStyle/>
          <a:p>
            <a:pPr indent="0" marL="0">
              <a:buNone/>
            </a:pPr>
            <a:r>
              <a:rPr lang="en-US" sz="2000" b="1" dirty="0">
                <a:solidFill>
                  <a:srgbClr val="0F8F7E"/>
                </a:solidFill>
                <a:latin typeface="Cambria" pitchFamily="34" charset="0"/>
                <a:ea typeface="Cambria" pitchFamily="34" charset="-122"/>
                <a:cs typeface="Cambria" pitchFamily="34" charset="-120"/>
              </a:rPr>
              <a:t>Цель</a:t>
            </a:r>
            <a:endParaRPr lang="en-US" sz="2000" dirty="0"/>
          </a:p>
        </p:txBody>
      </p:sp>
      <p:sp>
        <p:nvSpPr>
          <p:cNvPr id="5" name="Text 3"/>
          <p:cNvSpPr txBox="1"/>
          <p:nvPr/>
        </p:nvSpPr>
        <p:spPr>
          <a:xfrm>
            <a:off x="685800" y="1737360"/>
            <a:ext cx="3108960" cy="2468880"/>
          </a:xfrm>
          <a:prstGeom prst="rect">
            <a:avLst/>
          </a:prstGeom>
          <a:noFill/>
          <a:ln/>
        </p:spPr>
        <p:txBody>
          <a:bodyPr wrap="square" lIns="0" tIns="0" rIns="0" bIns="0" rtlCol="0" anchor="t"/>
          <a:lstStyle/>
          <a:p>
            <a:pPr indent="0" marL="0">
              <a:buNone/>
            </a:pPr>
            <a:r>
              <a:rPr lang="en-US" sz="1500" dirty="0">
                <a:solidFill>
                  <a:srgbClr val="1B2437"/>
                </a:solidFill>
                <a:latin typeface="Calibri" pitchFamily="34" charset="0"/>
                <a:ea typeface="Calibri" pitchFamily="34" charset="-122"/>
                <a:cs typeface="Calibri" pitchFamily="34" charset="-120"/>
              </a:rPr>
              <a:t>Построить математическую модель многолучевой интерференции в интерферометре Фабри - Перо и на её основе разработать методику измерения длины световой волны.</a:t>
            </a:r>
            <a:endParaRPr lang="en-US" sz="1500" dirty="0"/>
          </a:p>
        </p:txBody>
      </p:sp>
      <p:sp>
        <p:nvSpPr>
          <p:cNvPr id="6" name="Shape 4"/>
          <p:cNvSpPr/>
          <p:nvPr/>
        </p:nvSpPr>
        <p:spPr>
          <a:xfrm>
            <a:off x="4343400" y="1188720"/>
            <a:ext cx="457200" cy="457200"/>
          </a:xfrm>
          <a:prstGeom prst="ellipse">
            <a:avLst/>
          </a:prstGeom>
          <a:solidFill>
            <a:srgbClr val="22C7B0"/>
          </a:solidFill>
          <a:ln w="12700">
            <a:solidFill>
              <a:srgbClr val="22C7B0"/>
            </a:solidFill>
            <a:prstDash val="solid"/>
          </a:ln>
        </p:spPr>
      </p:sp>
      <p:sp>
        <p:nvSpPr>
          <p:cNvPr id="7" name="Text 5"/>
          <p:cNvSpPr txBox="1"/>
          <p:nvPr/>
        </p:nvSpPr>
        <p:spPr>
          <a:xfrm>
            <a:off x="4343400" y="118872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4983480" y="1143000"/>
            <a:ext cx="3703320" cy="292608"/>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Вывести формулу Эйри</a:t>
            </a:r>
            <a:endParaRPr lang="en-US" sz="1500" dirty="0"/>
          </a:p>
        </p:txBody>
      </p:sp>
      <p:sp>
        <p:nvSpPr>
          <p:cNvPr id="9" name="Text 7"/>
          <p:cNvSpPr txBox="1"/>
          <p:nvPr/>
        </p:nvSpPr>
        <p:spPr>
          <a:xfrm>
            <a:off x="4983480" y="1444752"/>
            <a:ext cx="3703320" cy="45720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и получить характеристики прибора: дисперсию, ширину пика, резкость, разрешение</a:t>
            </a:r>
            <a:endParaRPr lang="en-US" sz="1200" dirty="0"/>
          </a:p>
        </p:txBody>
      </p:sp>
      <p:sp>
        <p:nvSpPr>
          <p:cNvPr id="10" name="Shape 8"/>
          <p:cNvSpPr/>
          <p:nvPr/>
        </p:nvSpPr>
        <p:spPr>
          <a:xfrm>
            <a:off x="4343400" y="2011680"/>
            <a:ext cx="457200" cy="457200"/>
          </a:xfrm>
          <a:prstGeom prst="ellipse">
            <a:avLst/>
          </a:prstGeom>
          <a:solidFill>
            <a:srgbClr val="22C7B0"/>
          </a:solidFill>
          <a:ln w="12700">
            <a:solidFill>
              <a:srgbClr val="22C7B0"/>
            </a:solidFill>
            <a:prstDash val="solid"/>
          </a:ln>
        </p:spPr>
      </p:sp>
      <p:sp>
        <p:nvSpPr>
          <p:cNvPr id="11" name="Text 9"/>
          <p:cNvSpPr txBox="1"/>
          <p:nvPr/>
        </p:nvSpPr>
        <p:spPr>
          <a:xfrm>
            <a:off x="4343400" y="201168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4983480" y="1965960"/>
            <a:ext cx="3703320" cy="292608"/>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Получить закон радиусов колец</a:t>
            </a:r>
            <a:endParaRPr lang="en-US" sz="1500" dirty="0"/>
          </a:p>
        </p:txBody>
      </p:sp>
      <p:sp>
        <p:nvSpPr>
          <p:cNvPr id="13" name="Text 11"/>
          <p:cNvSpPr txBox="1"/>
          <p:nvPr/>
        </p:nvSpPr>
        <p:spPr>
          <a:xfrm>
            <a:off x="4983480" y="2267712"/>
            <a:ext cx="3703320" cy="45720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равного наклона и доказать равенство площадей зон</a:t>
            </a:r>
            <a:endParaRPr lang="en-US" sz="1200" dirty="0"/>
          </a:p>
        </p:txBody>
      </p:sp>
      <p:sp>
        <p:nvSpPr>
          <p:cNvPr id="14" name="Shape 12"/>
          <p:cNvSpPr/>
          <p:nvPr/>
        </p:nvSpPr>
        <p:spPr>
          <a:xfrm>
            <a:off x="4343400" y="2834640"/>
            <a:ext cx="457200" cy="457200"/>
          </a:xfrm>
          <a:prstGeom prst="ellipse">
            <a:avLst/>
          </a:prstGeom>
          <a:solidFill>
            <a:srgbClr val="22C7B0"/>
          </a:solidFill>
          <a:ln w="12700">
            <a:solidFill>
              <a:srgbClr val="22C7B0"/>
            </a:solidFill>
            <a:prstDash val="solid"/>
          </a:ln>
        </p:spPr>
      </p:sp>
      <p:sp>
        <p:nvSpPr>
          <p:cNvPr id="15" name="Text 13"/>
          <p:cNvSpPr txBox="1"/>
          <p:nvPr/>
        </p:nvSpPr>
        <p:spPr>
          <a:xfrm>
            <a:off x="4343400" y="283464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4983480" y="2788920"/>
            <a:ext cx="3703320" cy="292608"/>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Определить границы применимости</a:t>
            </a:r>
            <a:endParaRPr lang="en-US" sz="1500" dirty="0"/>
          </a:p>
        </p:txBody>
      </p:sp>
      <p:sp>
        <p:nvSpPr>
          <p:cNvPr id="17" name="Text 15"/>
          <p:cNvSpPr txBox="1"/>
          <p:nvPr/>
        </p:nvSpPr>
        <p:spPr>
          <a:xfrm>
            <a:off x="4983480" y="3090672"/>
            <a:ext cx="3703320" cy="45720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модели: допущения, малые углы, расфокусировка экрана</a:t>
            </a:r>
            <a:endParaRPr lang="en-US" sz="1200" dirty="0"/>
          </a:p>
        </p:txBody>
      </p:sp>
      <p:sp>
        <p:nvSpPr>
          <p:cNvPr id="18" name="Shape 16"/>
          <p:cNvSpPr/>
          <p:nvPr/>
        </p:nvSpPr>
        <p:spPr>
          <a:xfrm>
            <a:off x="4343400" y="3657600"/>
            <a:ext cx="457200" cy="457200"/>
          </a:xfrm>
          <a:prstGeom prst="ellipse">
            <a:avLst/>
          </a:prstGeom>
          <a:solidFill>
            <a:srgbClr val="22C7B0"/>
          </a:solidFill>
          <a:ln w="12700">
            <a:solidFill>
              <a:srgbClr val="22C7B0"/>
            </a:solidFill>
            <a:prstDash val="solid"/>
          </a:ln>
        </p:spPr>
      </p:sp>
      <p:sp>
        <p:nvSpPr>
          <p:cNvPr id="19" name="Text 17"/>
          <p:cNvSpPr txBox="1"/>
          <p:nvPr/>
        </p:nvSpPr>
        <p:spPr>
          <a:xfrm>
            <a:off x="4343400" y="365760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4</a:t>
            </a:r>
            <a:endParaRPr lang="en-US" sz="1800" dirty="0"/>
          </a:p>
        </p:txBody>
      </p:sp>
      <p:sp>
        <p:nvSpPr>
          <p:cNvPr id="20" name="Text 18"/>
          <p:cNvSpPr txBox="1"/>
          <p:nvPr/>
        </p:nvSpPr>
        <p:spPr>
          <a:xfrm>
            <a:off x="4983480" y="3611880"/>
            <a:ext cx="3703320" cy="292608"/>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Разработать три способа измерения</a:t>
            </a:r>
            <a:endParaRPr lang="en-US" sz="1500" dirty="0"/>
          </a:p>
        </p:txBody>
      </p:sp>
      <p:sp>
        <p:nvSpPr>
          <p:cNvPr id="21" name="Text 19"/>
          <p:cNvSpPr txBox="1"/>
          <p:nvPr/>
        </p:nvSpPr>
        <p:spPr>
          <a:xfrm>
            <a:off x="4983480" y="3913632"/>
            <a:ext cx="3703320" cy="45720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длины волны с обработкой методом наименьших квадратов</a:t>
            </a:r>
            <a:endParaRPr lang="en-US" sz="1200" dirty="0"/>
          </a:p>
        </p:txBody>
      </p:sp>
      <p:sp>
        <p:nvSpPr>
          <p:cNvPr id="22" name="Text 20"/>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23" name="Text 21"/>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Вывод формулы Эйри</a:t>
            </a:r>
            <a:endParaRPr lang="en-US" sz="3000" dirty="0"/>
          </a:p>
        </p:txBody>
      </p:sp>
      <p:sp>
        <p:nvSpPr>
          <p:cNvPr id="3" name="Shape 1"/>
          <p:cNvSpPr/>
          <p:nvPr/>
        </p:nvSpPr>
        <p:spPr>
          <a:xfrm>
            <a:off x="457200" y="1143000"/>
            <a:ext cx="457200" cy="457200"/>
          </a:xfrm>
          <a:prstGeom prst="ellipse">
            <a:avLst/>
          </a:prstGeom>
          <a:solidFill>
            <a:srgbClr val="22C7B0"/>
          </a:solidFill>
          <a:ln w="12700">
            <a:solidFill>
              <a:srgbClr val="22C7B0"/>
            </a:solidFill>
            <a:prstDash val="solid"/>
          </a:ln>
        </p:spPr>
      </p:sp>
      <p:sp>
        <p:nvSpPr>
          <p:cNvPr id="4" name="Text 2"/>
          <p:cNvSpPr txBox="1"/>
          <p:nvPr/>
        </p:nvSpPr>
        <p:spPr>
          <a:xfrm>
            <a:off x="457200" y="114300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1</a:t>
            </a:r>
            <a:endParaRPr lang="en-US" sz="1800" dirty="0"/>
          </a:p>
        </p:txBody>
      </p:sp>
      <p:sp>
        <p:nvSpPr>
          <p:cNvPr id="5" name="Text 3"/>
          <p:cNvSpPr txBox="1"/>
          <p:nvPr/>
        </p:nvSpPr>
        <p:spPr>
          <a:xfrm>
            <a:off x="1097280" y="1097280"/>
            <a:ext cx="3383280" cy="274320"/>
          </a:xfrm>
          <a:prstGeom prst="rect">
            <a:avLst/>
          </a:prstGeom>
          <a:noFill/>
          <a:ln/>
        </p:spPr>
        <p:txBody>
          <a:bodyPr wrap="square" lIns="0" tIns="0" rIns="0" bIns="0" rtlCol="0" anchor="ctr"/>
          <a:lstStyle/>
          <a:p>
            <a:pPr indent="0" marL="0">
              <a:buNone/>
            </a:pPr>
            <a:r>
              <a:rPr lang="en-US" sz="1600" b="1" dirty="0">
                <a:solidFill>
                  <a:srgbClr val="1B2437"/>
                </a:solidFill>
                <a:latin typeface="Cambria" pitchFamily="34" charset="0"/>
                <a:ea typeface="Cambria" pitchFamily="34" charset="-122"/>
                <a:cs typeface="Cambria" pitchFamily="34" charset="-120"/>
              </a:rPr>
              <a:t>Лучи</a:t>
            </a:r>
            <a:endParaRPr lang="en-US" sz="1600" dirty="0"/>
          </a:p>
        </p:txBody>
      </p:sp>
      <p:sp>
        <p:nvSpPr>
          <p:cNvPr id="6" name="Text 4"/>
          <p:cNvSpPr txBox="1"/>
          <p:nvPr/>
        </p:nvSpPr>
        <p:spPr>
          <a:xfrm>
            <a:off x="1097280" y="1389888"/>
            <a:ext cx="3383280" cy="640080"/>
          </a:xfrm>
          <a:prstGeom prst="rect">
            <a:avLst/>
          </a:prstGeom>
          <a:noFill/>
          <a:ln/>
        </p:spPr>
        <p:txBody>
          <a:bodyPr wrap="square" lIns="0" tIns="0" rIns="0" bIns="0" rtlCol="0" anchor="t"/>
          <a:lstStyle/>
          <a:p>
            <a:pPr indent="0" marL="0">
              <a:buNone/>
            </a:pPr>
            <a:r>
              <a:rPr lang="en-US" sz="1300" dirty="0">
                <a:solidFill>
                  <a:srgbClr val="5B6678"/>
                </a:solidFill>
                <a:latin typeface="Calibri" pitchFamily="34" charset="0"/>
                <a:ea typeface="Calibri" pitchFamily="34" charset="-122"/>
                <a:cs typeface="Calibri" pitchFamily="34" charset="-120"/>
              </a:rPr>
              <a:t>Каждое отражение умножает амплитуду на r = √R, а соседние лучи сдвинуты по фазе на δ = 4πnd·cosθ/λ.</a:t>
            </a:r>
            <a:endParaRPr lang="en-US" sz="1300" dirty="0"/>
          </a:p>
        </p:txBody>
      </p:sp>
      <p:sp>
        <p:nvSpPr>
          <p:cNvPr id="7" name="Shape 5"/>
          <p:cNvSpPr/>
          <p:nvPr/>
        </p:nvSpPr>
        <p:spPr>
          <a:xfrm>
            <a:off x="457200" y="2148840"/>
            <a:ext cx="457200" cy="457200"/>
          </a:xfrm>
          <a:prstGeom prst="ellipse">
            <a:avLst/>
          </a:prstGeom>
          <a:solidFill>
            <a:srgbClr val="22C7B0"/>
          </a:solidFill>
          <a:ln w="12700">
            <a:solidFill>
              <a:srgbClr val="22C7B0"/>
            </a:solidFill>
            <a:prstDash val="solid"/>
          </a:ln>
        </p:spPr>
      </p:sp>
      <p:sp>
        <p:nvSpPr>
          <p:cNvPr id="8" name="Text 6"/>
          <p:cNvSpPr txBox="1"/>
          <p:nvPr/>
        </p:nvSpPr>
        <p:spPr>
          <a:xfrm>
            <a:off x="457200" y="214884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097280" y="2103120"/>
            <a:ext cx="3383280" cy="274320"/>
          </a:xfrm>
          <a:prstGeom prst="rect">
            <a:avLst/>
          </a:prstGeom>
          <a:noFill/>
          <a:ln/>
        </p:spPr>
        <p:txBody>
          <a:bodyPr wrap="square" lIns="0" tIns="0" rIns="0" bIns="0" rtlCol="0" anchor="ctr"/>
          <a:lstStyle/>
          <a:p>
            <a:pPr indent="0" marL="0">
              <a:buNone/>
            </a:pPr>
            <a:r>
              <a:rPr lang="en-US" sz="1600" b="1" dirty="0">
                <a:solidFill>
                  <a:srgbClr val="1B2437"/>
                </a:solidFill>
                <a:latin typeface="Cambria" pitchFamily="34" charset="0"/>
                <a:ea typeface="Cambria" pitchFamily="34" charset="-122"/>
                <a:cs typeface="Cambria" pitchFamily="34" charset="-120"/>
              </a:rPr>
              <a:t>Сумма</a:t>
            </a:r>
            <a:endParaRPr lang="en-US" sz="1600" dirty="0"/>
          </a:p>
        </p:txBody>
      </p:sp>
      <p:sp>
        <p:nvSpPr>
          <p:cNvPr id="10" name="Text 8"/>
          <p:cNvSpPr txBox="1"/>
          <p:nvPr/>
        </p:nvSpPr>
        <p:spPr>
          <a:xfrm>
            <a:off x="1097280" y="2395728"/>
            <a:ext cx="3383280" cy="640080"/>
          </a:xfrm>
          <a:prstGeom prst="rect">
            <a:avLst/>
          </a:prstGeom>
          <a:noFill/>
          <a:ln/>
        </p:spPr>
        <p:txBody>
          <a:bodyPr wrap="square" lIns="0" tIns="0" rIns="0" bIns="0" rtlCol="0" anchor="t"/>
          <a:lstStyle/>
          <a:p>
            <a:pPr indent="0" marL="0">
              <a:buNone/>
            </a:pPr>
            <a:r>
              <a:rPr lang="en-US" sz="1300" dirty="0">
                <a:solidFill>
                  <a:srgbClr val="5B6678"/>
                </a:solidFill>
                <a:latin typeface="Calibri" pitchFamily="34" charset="0"/>
                <a:ea typeface="Calibri" pitchFamily="34" charset="-122"/>
                <a:cs typeface="Calibri" pitchFamily="34" charset="-120"/>
              </a:rPr>
              <a:t>Бесконечная геометрическая прогрессия: E = t²·Σ(r²e^{iδ})^k = t² / (1 − R·e^{iδ}).</a:t>
            </a:r>
            <a:endParaRPr lang="en-US" sz="1300" dirty="0"/>
          </a:p>
        </p:txBody>
      </p:sp>
      <p:sp>
        <p:nvSpPr>
          <p:cNvPr id="11" name="Shape 9"/>
          <p:cNvSpPr/>
          <p:nvPr/>
        </p:nvSpPr>
        <p:spPr>
          <a:xfrm>
            <a:off x="457200" y="3154680"/>
            <a:ext cx="457200" cy="457200"/>
          </a:xfrm>
          <a:prstGeom prst="ellipse">
            <a:avLst/>
          </a:prstGeom>
          <a:solidFill>
            <a:srgbClr val="22C7B0"/>
          </a:solidFill>
          <a:ln w="12700">
            <a:solidFill>
              <a:srgbClr val="22C7B0"/>
            </a:solidFill>
            <a:prstDash val="solid"/>
          </a:ln>
        </p:spPr>
      </p:sp>
      <p:sp>
        <p:nvSpPr>
          <p:cNvPr id="12" name="Text 10"/>
          <p:cNvSpPr txBox="1"/>
          <p:nvPr/>
        </p:nvSpPr>
        <p:spPr>
          <a:xfrm>
            <a:off x="457200" y="3154680"/>
            <a:ext cx="457200" cy="457200"/>
          </a:xfrm>
          <a:prstGeom prst="rect">
            <a:avLst/>
          </a:prstGeom>
          <a:noFill/>
          <a:ln/>
        </p:spPr>
        <p:txBody>
          <a:bodyPr wrap="square" lIns="0" tIns="0" rIns="0" bIns="0" rtlCol="0" anchor="ctr"/>
          <a:lstStyle/>
          <a:p>
            <a:pPr algn="ctr" indent="0" marL="0">
              <a:buNone/>
            </a:pPr>
            <a:r>
              <a:rPr lang="en-US" sz="1800" b="1" dirty="0">
                <a:solidFill>
                  <a:srgbClr val="0B1220"/>
                </a:solidFill>
                <a:latin typeface="Cambria" pitchFamily="34" charset="0"/>
                <a:ea typeface="Cambria" pitchFamily="34" charset="-122"/>
                <a:cs typeface="Cambria" pitchFamily="34" charset="-120"/>
              </a:rPr>
              <a:t>3</a:t>
            </a:r>
            <a:endParaRPr lang="en-US" sz="1800" dirty="0"/>
          </a:p>
        </p:txBody>
      </p:sp>
      <p:sp>
        <p:nvSpPr>
          <p:cNvPr id="13" name="Text 11"/>
          <p:cNvSpPr txBox="1"/>
          <p:nvPr/>
        </p:nvSpPr>
        <p:spPr>
          <a:xfrm>
            <a:off x="1097280" y="3108960"/>
            <a:ext cx="3383280" cy="274320"/>
          </a:xfrm>
          <a:prstGeom prst="rect">
            <a:avLst/>
          </a:prstGeom>
          <a:noFill/>
          <a:ln/>
        </p:spPr>
        <p:txBody>
          <a:bodyPr wrap="square" lIns="0" tIns="0" rIns="0" bIns="0" rtlCol="0" anchor="ctr"/>
          <a:lstStyle/>
          <a:p>
            <a:pPr indent="0" marL="0">
              <a:buNone/>
            </a:pPr>
            <a:r>
              <a:rPr lang="en-US" sz="1600" b="1" dirty="0">
                <a:solidFill>
                  <a:srgbClr val="1B2437"/>
                </a:solidFill>
                <a:latin typeface="Cambria" pitchFamily="34" charset="0"/>
                <a:ea typeface="Cambria" pitchFamily="34" charset="-122"/>
                <a:cs typeface="Cambria" pitchFamily="34" charset="-120"/>
              </a:rPr>
              <a:t>Интенсивность</a:t>
            </a:r>
            <a:endParaRPr lang="en-US" sz="1600" dirty="0"/>
          </a:p>
        </p:txBody>
      </p:sp>
      <p:sp>
        <p:nvSpPr>
          <p:cNvPr id="14" name="Text 12"/>
          <p:cNvSpPr txBox="1"/>
          <p:nvPr/>
        </p:nvSpPr>
        <p:spPr>
          <a:xfrm>
            <a:off x="1097280" y="3401568"/>
            <a:ext cx="3383280" cy="640080"/>
          </a:xfrm>
          <a:prstGeom prst="rect">
            <a:avLst/>
          </a:prstGeom>
          <a:noFill/>
          <a:ln/>
        </p:spPr>
        <p:txBody>
          <a:bodyPr wrap="square" lIns="0" tIns="0" rIns="0" bIns="0" rtlCol="0" anchor="t"/>
          <a:lstStyle/>
          <a:p>
            <a:pPr indent="0" marL="0">
              <a:buNone/>
            </a:pPr>
            <a:r>
              <a:rPr lang="en-US" sz="1300" dirty="0">
                <a:solidFill>
                  <a:srgbClr val="5B6678"/>
                </a:solidFill>
                <a:latin typeface="Calibri" pitchFamily="34" charset="0"/>
                <a:ea typeface="Calibri" pitchFamily="34" charset="-122"/>
                <a:cs typeface="Calibri" pitchFamily="34" charset="-120"/>
              </a:rPr>
              <a:t>T = |E|² даёт формулу Эйри; F = 4R/(1 − R)² - коэффициент резкости.</a:t>
            </a:r>
            <a:endParaRPr lang="en-US" sz="1300" dirty="0"/>
          </a:p>
        </p:txBody>
      </p:sp>
      <p:sp>
        <p:nvSpPr>
          <p:cNvPr id="15" name="Text 13"/>
          <p:cNvSpPr txBox="1"/>
          <p:nvPr/>
        </p:nvSpPr>
        <p:spPr>
          <a:xfrm>
            <a:off x="4754880" y="1097280"/>
            <a:ext cx="3931920" cy="457200"/>
          </a:xfrm>
          <a:prstGeom prst="rect">
            <a:avLst/>
          </a:prstGeom>
          <a:noFill/>
          <a:ln/>
        </p:spPr>
        <p:txBody>
          <a:bodyPr wrap="square" lIns="0" tIns="0" rIns="0" bIns="0" rtlCol="0" anchor="ctr"/>
          <a:lstStyle/>
          <a:p>
            <a:pPr indent="0" marL="0">
              <a:buNone/>
            </a:pPr>
            <a:r>
              <a:rPr lang="en-US" sz="2200" b="1" i="1" dirty="0">
                <a:solidFill>
                  <a:srgbClr val="1B2437"/>
                </a:solidFill>
                <a:latin typeface="Cambria" pitchFamily="34" charset="0"/>
                <a:ea typeface="Cambria" pitchFamily="34" charset="-122"/>
                <a:cs typeface="Cambria" pitchFamily="34" charset="-120"/>
              </a:rPr>
              <a:t>T = Tmax / (1 + F·sin²(δ/2))</a:t>
            </a:r>
            <a:endParaRPr lang="en-US" sz="2200" dirty="0"/>
          </a:p>
        </p:txBody>
      </p:sp>
      <p:pic>
        <p:nvPicPr>
          <p:cNvPr id="16" name="Image 0" descr="/tmp/claude-0/-home-user-fabry-pertotq/da6804cf-1b2d-5442-843e-f7000ad32be1/scratchpad/deck/graph.png">    </p:cNvPr>
          <p:cNvPicPr>
            <a:picLocks noChangeAspect="1"/>
          </p:cNvPicPr>
          <p:nvPr/>
        </p:nvPicPr>
        <p:blipFill>
          <a:blip r:embed="rId1"/>
          <a:stretch>
            <a:fillRect/>
          </a:stretch>
        </p:blipFill>
        <p:spPr>
          <a:xfrm>
            <a:off x="4754880" y="1737360"/>
            <a:ext cx="3931920" cy="1792224"/>
          </a:xfrm>
          <a:prstGeom prst="rect">
            <a:avLst/>
          </a:prstGeom>
        </p:spPr>
      </p:pic>
      <p:sp>
        <p:nvSpPr>
          <p:cNvPr id="17" name="Text 14"/>
          <p:cNvSpPr txBox="1"/>
          <p:nvPr/>
        </p:nvSpPr>
        <p:spPr>
          <a:xfrm>
            <a:off x="4754880" y="3611880"/>
            <a:ext cx="3931920" cy="548640"/>
          </a:xfrm>
          <a:prstGeom prst="rect">
            <a:avLst/>
          </a:prstGeom>
          <a:noFill/>
          <a:ln/>
        </p:spPr>
        <p:txBody>
          <a:bodyPr wrap="square" lIns="0" tIns="0" rIns="0" bIns="0" rtlCol="0" anchor="t"/>
          <a:lstStyle/>
          <a:p>
            <a:pPr indent="0" marL="0">
              <a:buNone/>
            </a:pPr>
            <a:r>
              <a:rPr lang="en-US" sz="1100" dirty="0">
                <a:solidFill>
                  <a:srgbClr val="5B6678"/>
                </a:solidFill>
                <a:latin typeface="Calibri" pitchFamily="34" charset="0"/>
                <a:ea typeface="Calibri" pitchFamily="34" charset="-122"/>
                <a:cs typeface="Calibri" pitchFamily="34" charset="-120"/>
              </a:rPr>
              <a:t>Максимумы - при δ = 2πm, то есть 2nd·cosθ = mλ. He-Ne лазер 632,8 нм, зазор 5 мм, R = 0,9</a:t>
            </a:r>
            <a:endParaRPr lang="en-US" sz="1100" dirty="0"/>
          </a:p>
        </p:txBody>
      </p:sp>
      <p:sp>
        <p:nvSpPr>
          <p:cNvPr id="18" name="Text 15"/>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9" name="Text 1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Что даёт формула</a:t>
            </a:r>
            <a:endParaRPr lang="en-US" sz="3000" dirty="0"/>
          </a:p>
        </p:txBody>
      </p:sp>
      <p:sp>
        <p:nvSpPr>
          <p:cNvPr id="3" name="Shape 1"/>
          <p:cNvSpPr/>
          <p:nvPr/>
        </p:nvSpPr>
        <p:spPr>
          <a:xfrm>
            <a:off x="457200" y="1143000"/>
            <a:ext cx="3931920" cy="1508760"/>
          </a:xfrm>
          <a:prstGeom prst="roundRect">
            <a:avLst>
              <a:gd name="adj" fmla="val 7273"/>
            </a:avLst>
          </a:prstGeom>
          <a:solidFill>
            <a:srgbClr val="EEF3F8"/>
          </a:solidFill>
          <a:ln w="12700">
            <a:solidFill>
              <a:srgbClr val="EEF3F8"/>
            </a:solidFill>
            <a:prstDash val="solid"/>
          </a:ln>
        </p:spPr>
      </p:sp>
      <p:sp>
        <p:nvSpPr>
          <p:cNvPr id="4" name="Text 2"/>
          <p:cNvSpPr txBox="1"/>
          <p:nvPr/>
        </p:nvSpPr>
        <p:spPr>
          <a:xfrm>
            <a:off x="731520" y="1280160"/>
            <a:ext cx="3383280" cy="320040"/>
          </a:xfrm>
          <a:prstGeom prst="rect">
            <a:avLst/>
          </a:prstGeom>
          <a:noFill/>
          <a:ln/>
        </p:spPr>
        <p:txBody>
          <a:bodyPr wrap="square" lIns="0" tIns="0" rIns="0" bIns="0" rtlCol="0" anchor="ctr"/>
          <a:lstStyle/>
          <a:p>
            <a:pPr indent="0" marL="0">
              <a:buNone/>
            </a:pPr>
            <a:r>
              <a:rPr lang="en-US" sz="1600" b="1" i="1" dirty="0">
                <a:solidFill>
                  <a:srgbClr val="0F8F7E"/>
                </a:solidFill>
                <a:latin typeface="Cambria" pitchFamily="34" charset="0"/>
                <a:ea typeface="Cambria" pitchFamily="34" charset="-122"/>
                <a:cs typeface="Cambria" pitchFamily="34" charset="-120"/>
              </a:rPr>
              <a:t>λ² / (2nd)</a:t>
            </a:r>
            <a:endParaRPr lang="en-US" sz="1600" dirty="0"/>
          </a:p>
        </p:txBody>
      </p:sp>
      <p:sp>
        <p:nvSpPr>
          <p:cNvPr id="5" name="Text 3"/>
          <p:cNvSpPr txBox="1"/>
          <p:nvPr/>
        </p:nvSpPr>
        <p:spPr>
          <a:xfrm>
            <a:off x="731520" y="1600200"/>
            <a:ext cx="3383280" cy="548640"/>
          </a:xfrm>
          <a:prstGeom prst="rect">
            <a:avLst/>
          </a:prstGeom>
          <a:noFill/>
          <a:ln/>
        </p:spPr>
        <p:txBody>
          <a:bodyPr wrap="square" lIns="0" tIns="0" rIns="0" bIns="0" rtlCol="0" anchor="ctr"/>
          <a:lstStyle/>
          <a:p>
            <a:pPr indent="0" marL="0">
              <a:buNone/>
            </a:pPr>
            <a:r>
              <a:rPr lang="en-US" sz="3200" b="1" dirty="0">
                <a:solidFill>
                  <a:srgbClr val="1B2437"/>
                </a:solidFill>
                <a:latin typeface="Cambria" pitchFamily="34" charset="0"/>
                <a:ea typeface="Cambria" pitchFamily="34" charset="-122"/>
                <a:cs typeface="Cambria" pitchFamily="34" charset="-120"/>
              </a:rPr>
              <a:t>40,04 пм</a:t>
            </a:r>
            <a:endParaRPr lang="en-US" sz="3200" dirty="0"/>
          </a:p>
        </p:txBody>
      </p:sp>
      <p:sp>
        <p:nvSpPr>
          <p:cNvPr id="6" name="Text 4"/>
          <p:cNvSpPr txBox="1"/>
          <p:nvPr/>
        </p:nvSpPr>
        <p:spPr>
          <a:xfrm>
            <a:off x="731520" y="2167128"/>
            <a:ext cx="3383280" cy="41148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область свободной дисперсии: расстояние между пиками</a:t>
            </a:r>
            <a:endParaRPr lang="en-US" sz="1200" dirty="0"/>
          </a:p>
        </p:txBody>
      </p:sp>
      <p:sp>
        <p:nvSpPr>
          <p:cNvPr id="7" name="Shape 5"/>
          <p:cNvSpPr/>
          <p:nvPr/>
        </p:nvSpPr>
        <p:spPr>
          <a:xfrm>
            <a:off x="4617720" y="1143000"/>
            <a:ext cx="3931920" cy="1508760"/>
          </a:xfrm>
          <a:prstGeom prst="roundRect">
            <a:avLst>
              <a:gd name="adj" fmla="val 7273"/>
            </a:avLst>
          </a:prstGeom>
          <a:solidFill>
            <a:srgbClr val="EEF3F8"/>
          </a:solidFill>
          <a:ln w="12700">
            <a:solidFill>
              <a:srgbClr val="EEF3F8"/>
            </a:solidFill>
            <a:prstDash val="solid"/>
          </a:ln>
        </p:spPr>
      </p:sp>
      <p:sp>
        <p:nvSpPr>
          <p:cNvPr id="8" name="Text 6"/>
          <p:cNvSpPr txBox="1"/>
          <p:nvPr/>
        </p:nvSpPr>
        <p:spPr>
          <a:xfrm>
            <a:off x="4892040" y="1280160"/>
            <a:ext cx="3383280" cy="320040"/>
          </a:xfrm>
          <a:prstGeom prst="rect">
            <a:avLst/>
          </a:prstGeom>
          <a:noFill/>
          <a:ln/>
        </p:spPr>
        <p:txBody>
          <a:bodyPr wrap="square" lIns="0" tIns="0" rIns="0" bIns="0" rtlCol="0" anchor="ctr"/>
          <a:lstStyle/>
          <a:p>
            <a:pPr indent="0" marL="0">
              <a:buNone/>
            </a:pPr>
            <a:r>
              <a:rPr lang="en-US" sz="1600" b="1" i="1" dirty="0">
                <a:solidFill>
                  <a:srgbClr val="0F8F7E"/>
                </a:solidFill>
                <a:latin typeface="Cambria" pitchFamily="34" charset="0"/>
                <a:ea typeface="Cambria" pitchFamily="34" charset="-122"/>
                <a:cs typeface="Cambria" pitchFamily="34" charset="-120"/>
              </a:rPr>
              <a:t>Δλ / 𝓕</a:t>
            </a:r>
            <a:endParaRPr lang="en-US" sz="1600" dirty="0"/>
          </a:p>
        </p:txBody>
      </p:sp>
      <p:sp>
        <p:nvSpPr>
          <p:cNvPr id="9" name="Text 7"/>
          <p:cNvSpPr txBox="1"/>
          <p:nvPr/>
        </p:nvSpPr>
        <p:spPr>
          <a:xfrm>
            <a:off x="4892040" y="1600200"/>
            <a:ext cx="3383280" cy="548640"/>
          </a:xfrm>
          <a:prstGeom prst="rect">
            <a:avLst/>
          </a:prstGeom>
          <a:noFill/>
          <a:ln/>
        </p:spPr>
        <p:txBody>
          <a:bodyPr wrap="square" lIns="0" tIns="0" rIns="0" bIns="0" rtlCol="0" anchor="ctr"/>
          <a:lstStyle/>
          <a:p>
            <a:pPr indent="0" marL="0">
              <a:buNone/>
            </a:pPr>
            <a:r>
              <a:rPr lang="en-US" sz="3200" b="1" dirty="0">
                <a:solidFill>
                  <a:srgbClr val="1B2437"/>
                </a:solidFill>
                <a:latin typeface="Cambria" pitchFamily="34" charset="0"/>
                <a:ea typeface="Cambria" pitchFamily="34" charset="-122"/>
                <a:cs typeface="Cambria" pitchFamily="34" charset="-120"/>
              </a:rPr>
              <a:t>1,344 пм</a:t>
            </a:r>
            <a:endParaRPr lang="en-US" sz="3200" dirty="0"/>
          </a:p>
        </p:txBody>
      </p:sp>
      <p:sp>
        <p:nvSpPr>
          <p:cNvPr id="10" name="Text 8"/>
          <p:cNvSpPr txBox="1"/>
          <p:nvPr/>
        </p:nvSpPr>
        <p:spPr>
          <a:xfrm>
            <a:off x="4892040" y="2167128"/>
            <a:ext cx="3383280" cy="41148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ширина пика, 𝓕 - резкость</a:t>
            </a:r>
            <a:endParaRPr lang="en-US" sz="1200" dirty="0"/>
          </a:p>
        </p:txBody>
      </p:sp>
      <p:sp>
        <p:nvSpPr>
          <p:cNvPr id="11" name="Shape 9"/>
          <p:cNvSpPr/>
          <p:nvPr/>
        </p:nvSpPr>
        <p:spPr>
          <a:xfrm>
            <a:off x="457200" y="2834640"/>
            <a:ext cx="3931920" cy="1508760"/>
          </a:xfrm>
          <a:prstGeom prst="roundRect">
            <a:avLst>
              <a:gd name="adj" fmla="val 7273"/>
            </a:avLst>
          </a:prstGeom>
          <a:solidFill>
            <a:srgbClr val="EEF3F8"/>
          </a:solidFill>
          <a:ln w="12700">
            <a:solidFill>
              <a:srgbClr val="EEF3F8"/>
            </a:solidFill>
            <a:prstDash val="solid"/>
          </a:ln>
        </p:spPr>
      </p:sp>
      <p:sp>
        <p:nvSpPr>
          <p:cNvPr id="12" name="Text 10"/>
          <p:cNvSpPr txBox="1"/>
          <p:nvPr/>
        </p:nvSpPr>
        <p:spPr>
          <a:xfrm>
            <a:off x="731520" y="2971800"/>
            <a:ext cx="3383280" cy="320040"/>
          </a:xfrm>
          <a:prstGeom prst="rect">
            <a:avLst/>
          </a:prstGeom>
          <a:noFill/>
          <a:ln/>
        </p:spPr>
        <p:txBody>
          <a:bodyPr wrap="square" lIns="0" tIns="0" rIns="0" bIns="0" rtlCol="0" anchor="ctr"/>
          <a:lstStyle/>
          <a:p>
            <a:pPr indent="0" marL="0">
              <a:buNone/>
            </a:pPr>
            <a:r>
              <a:rPr lang="en-US" sz="1600" b="1" i="1" dirty="0">
                <a:solidFill>
                  <a:srgbClr val="0F8F7E"/>
                </a:solidFill>
                <a:latin typeface="Cambria" pitchFamily="34" charset="0"/>
                <a:ea typeface="Cambria" pitchFamily="34" charset="-122"/>
                <a:cs typeface="Cambria" pitchFamily="34" charset="-120"/>
              </a:rPr>
              <a:t>π√R / (1 − R)</a:t>
            </a:r>
            <a:endParaRPr lang="en-US" sz="1600" dirty="0"/>
          </a:p>
        </p:txBody>
      </p:sp>
      <p:sp>
        <p:nvSpPr>
          <p:cNvPr id="13" name="Text 11"/>
          <p:cNvSpPr txBox="1"/>
          <p:nvPr/>
        </p:nvSpPr>
        <p:spPr>
          <a:xfrm>
            <a:off x="731520" y="3291840"/>
            <a:ext cx="3383280" cy="548640"/>
          </a:xfrm>
          <a:prstGeom prst="rect">
            <a:avLst/>
          </a:prstGeom>
          <a:noFill/>
          <a:ln/>
        </p:spPr>
        <p:txBody>
          <a:bodyPr wrap="square" lIns="0" tIns="0" rIns="0" bIns="0" rtlCol="0" anchor="ctr"/>
          <a:lstStyle/>
          <a:p>
            <a:pPr indent="0" marL="0">
              <a:buNone/>
            </a:pPr>
            <a:r>
              <a:rPr lang="en-US" sz="3200" b="1" dirty="0">
                <a:solidFill>
                  <a:srgbClr val="1B2437"/>
                </a:solidFill>
                <a:latin typeface="Cambria" pitchFamily="34" charset="0"/>
                <a:ea typeface="Cambria" pitchFamily="34" charset="-122"/>
                <a:cs typeface="Cambria" pitchFamily="34" charset="-120"/>
              </a:rPr>
              <a:t>29,8</a:t>
            </a:r>
            <a:endParaRPr lang="en-US" sz="3200" dirty="0"/>
          </a:p>
        </p:txBody>
      </p:sp>
      <p:sp>
        <p:nvSpPr>
          <p:cNvPr id="14" name="Text 12"/>
          <p:cNvSpPr txBox="1"/>
          <p:nvPr/>
        </p:nvSpPr>
        <p:spPr>
          <a:xfrm>
            <a:off x="731520" y="3858768"/>
            <a:ext cx="3383280" cy="41148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резкость: во сколько раз пик уже расстояния между пиками</a:t>
            </a:r>
            <a:endParaRPr lang="en-US" sz="1200" dirty="0"/>
          </a:p>
        </p:txBody>
      </p:sp>
      <p:sp>
        <p:nvSpPr>
          <p:cNvPr id="15" name="Shape 13"/>
          <p:cNvSpPr/>
          <p:nvPr/>
        </p:nvSpPr>
        <p:spPr>
          <a:xfrm>
            <a:off x="4617720" y="2834640"/>
            <a:ext cx="3931920" cy="1508760"/>
          </a:xfrm>
          <a:prstGeom prst="roundRect">
            <a:avLst>
              <a:gd name="adj" fmla="val 7273"/>
            </a:avLst>
          </a:prstGeom>
          <a:solidFill>
            <a:srgbClr val="EEF3F8"/>
          </a:solidFill>
          <a:ln w="12700">
            <a:solidFill>
              <a:srgbClr val="EEF3F8"/>
            </a:solidFill>
            <a:prstDash val="solid"/>
          </a:ln>
        </p:spPr>
      </p:sp>
      <p:sp>
        <p:nvSpPr>
          <p:cNvPr id="16" name="Text 14"/>
          <p:cNvSpPr txBox="1"/>
          <p:nvPr/>
        </p:nvSpPr>
        <p:spPr>
          <a:xfrm>
            <a:off x="4892040" y="2971800"/>
            <a:ext cx="3383280" cy="320040"/>
          </a:xfrm>
          <a:prstGeom prst="rect">
            <a:avLst/>
          </a:prstGeom>
          <a:noFill/>
          <a:ln/>
        </p:spPr>
        <p:txBody>
          <a:bodyPr wrap="square" lIns="0" tIns="0" rIns="0" bIns="0" rtlCol="0" anchor="ctr"/>
          <a:lstStyle/>
          <a:p>
            <a:pPr indent="0" marL="0">
              <a:buNone/>
            </a:pPr>
            <a:r>
              <a:rPr lang="en-US" sz="1600" b="1" i="1" dirty="0">
                <a:solidFill>
                  <a:srgbClr val="0F8F7E"/>
                </a:solidFill>
                <a:latin typeface="Cambria" pitchFamily="34" charset="0"/>
                <a:ea typeface="Cambria" pitchFamily="34" charset="-122"/>
                <a:cs typeface="Cambria" pitchFamily="34" charset="-120"/>
              </a:rPr>
              <a:t>λ / w</a:t>
            </a:r>
            <a:endParaRPr lang="en-US" sz="1600" dirty="0"/>
          </a:p>
        </p:txBody>
      </p:sp>
      <p:sp>
        <p:nvSpPr>
          <p:cNvPr id="17" name="Text 15"/>
          <p:cNvSpPr txBox="1"/>
          <p:nvPr/>
        </p:nvSpPr>
        <p:spPr>
          <a:xfrm>
            <a:off x="4892040" y="3291840"/>
            <a:ext cx="3383280" cy="548640"/>
          </a:xfrm>
          <a:prstGeom prst="rect">
            <a:avLst/>
          </a:prstGeom>
          <a:noFill/>
          <a:ln/>
        </p:spPr>
        <p:txBody>
          <a:bodyPr wrap="square" lIns="0" tIns="0" rIns="0" bIns="0" rtlCol="0" anchor="ctr"/>
          <a:lstStyle/>
          <a:p>
            <a:pPr indent="0" marL="0">
              <a:buNone/>
            </a:pPr>
            <a:r>
              <a:rPr lang="en-US" sz="3200" b="1" dirty="0">
                <a:solidFill>
                  <a:srgbClr val="1B2437"/>
                </a:solidFill>
                <a:latin typeface="Cambria" pitchFamily="34" charset="0"/>
                <a:ea typeface="Cambria" pitchFamily="34" charset="-122"/>
                <a:cs typeface="Cambria" pitchFamily="34" charset="-120"/>
              </a:rPr>
              <a:t>≈ 470 000</a:t>
            </a:r>
            <a:endParaRPr lang="en-US" sz="3200" dirty="0"/>
          </a:p>
        </p:txBody>
      </p:sp>
      <p:sp>
        <p:nvSpPr>
          <p:cNvPr id="18" name="Text 16"/>
          <p:cNvSpPr txBox="1"/>
          <p:nvPr/>
        </p:nvSpPr>
        <p:spPr>
          <a:xfrm>
            <a:off x="4892040" y="3858768"/>
            <a:ext cx="3383280" cy="411480"/>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разрешающая способность</a:t>
            </a:r>
            <a:endParaRPr lang="en-US" sz="1200" dirty="0"/>
          </a:p>
        </p:txBody>
      </p:sp>
      <p:sp>
        <p:nvSpPr>
          <p:cNvPr id="19" name="Text 17"/>
          <p:cNvSpPr txBox="1"/>
          <p:nvPr/>
        </p:nvSpPr>
        <p:spPr>
          <a:xfrm>
            <a:off x="457200" y="4389120"/>
            <a:ext cx="8229600" cy="384048"/>
          </a:xfrm>
          <a:prstGeom prst="rect">
            <a:avLst/>
          </a:prstGeom>
          <a:noFill/>
          <a:ln/>
        </p:spPr>
        <p:txBody>
          <a:bodyPr wrap="square" lIns="0" tIns="0" rIns="0" bIns="0" rtlCol="0" anchor="t"/>
          <a:lstStyle/>
          <a:p>
            <a:pPr indent="0" marL="0">
              <a:buNone/>
            </a:pPr>
            <a:r>
              <a:rPr lang="en-US" sz="1100" dirty="0">
                <a:solidFill>
                  <a:srgbClr val="5B6678"/>
                </a:solidFill>
                <a:latin typeface="Calibri" pitchFamily="34" charset="0"/>
                <a:ea typeface="Calibri" pitchFamily="34" charset="-122"/>
                <a:cs typeface="Calibri" pitchFamily="34" charset="-120"/>
              </a:rPr>
              <a:t>Для He-Ne лазера: 632,8 нм, зазор d = 5 мм, отражение R = 0,9. Две линии считаются различимыми, если провал между ними не больше 0,81 максимума: δλmin ≈ 1,03·w</a:t>
            </a:r>
            <a:endParaRPr lang="en-US" sz="1100" dirty="0"/>
          </a:p>
        </p:txBody>
      </p:sp>
      <p:sp>
        <p:nvSpPr>
          <p:cNvPr id="20" name="Text 18"/>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21" name="Text 19"/>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Кольца равного наклона</a:t>
            </a:r>
            <a:endParaRPr lang="en-US" sz="3000" dirty="0"/>
          </a:p>
        </p:txBody>
      </p:sp>
      <p:sp>
        <p:nvSpPr>
          <p:cNvPr id="3" name="Text 1"/>
          <p:cNvSpPr txBox="1"/>
          <p:nvPr/>
        </p:nvSpPr>
        <p:spPr>
          <a:xfrm>
            <a:off x="457200" y="1097280"/>
            <a:ext cx="4572000" cy="457200"/>
          </a:xfrm>
          <a:prstGeom prst="rect">
            <a:avLst/>
          </a:prstGeom>
          <a:noFill/>
          <a:ln/>
        </p:spPr>
        <p:txBody>
          <a:bodyPr wrap="square" lIns="0" tIns="0" rIns="0" bIns="0" rtlCol="0" anchor="ctr"/>
          <a:lstStyle/>
          <a:p>
            <a:pPr indent="0" marL="0">
              <a:buNone/>
            </a:pPr>
            <a:r>
              <a:rPr lang="en-US" sz="2400" b="1" i="1" dirty="0">
                <a:solidFill>
                  <a:srgbClr val="22C7B0"/>
                </a:solidFill>
                <a:latin typeface="Cambria" pitchFamily="34" charset="0"/>
                <a:ea typeface="Cambria" pitchFamily="34" charset="-122"/>
                <a:cs typeface="Cambria" pitchFamily="34" charset="-120"/>
              </a:rPr>
              <a:t>r² = (f²nλ/d)·(k − 1 + ε)</a:t>
            </a:r>
            <a:endParaRPr lang="en-US" sz="2400" dirty="0"/>
          </a:p>
        </p:txBody>
      </p:sp>
      <p:sp>
        <p:nvSpPr>
          <p:cNvPr id="4" name="Text 2"/>
          <p:cNvSpPr txBox="1"/>
          <p:nvPr/>
        </p:nvSpPr>
        <p:spPr>
          <a:xfrm>
            <a:off x="457200" y="1645920"/>
            <a:ext cx="475488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Площади зон между кольцами равны: S = πf²nλ/d</a:t>
            </a:r>
            <a:endParaRPr lang="en-US" sz="1600" dirty="0"/>
          </a:p>
        </p:txBody>
      </p:sp>
      <p:sp>
        <p:nvSpPr>
          <p:cNvPr id="5" name="Text 3"/>
          <p:cNvSpPr txBox="1"/>
          <p:nvPr/>
        </p:nvSpPr>
        <p:spPr>
          <a:xfrm>
            <a:off x="457200" y="2240280"/>
            <a:ext cx="4754880" cy="1463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C9D4E5"/>
                </a:solidFill>
                <a:latin typeface="Calibri" pitchFamily="34" charset="0"/>
                <a:ea typeface="Calibri" pitchFamily="34" charset="-122"/>
                <a:cs typeface="Calibri" pitchFamily="34" charset="-120"/>
              </a:rPr>
              <a:t>Радиусы колец растут как √k, кольца сгущаются к краю</a:t>
            </a:r>
            <a:endParaRPr lang="en-US" sz="1400" dirty="0"/>
          </a:p>
          <a:p>
            <a:pPr marL="342900" indent="-342900">
              <a:spcAft>
                <a:spcPts val="800"/>
              </a:spcAft>
              <a:buSzPct val="100000"/>
              <a:buChar char="•"/>
            </a:pPr>
            <a:r>
              <a:rPr lang="en-US" sz="1400" dirty="0">
                <a:solidFill>
                  <a:srgbClr val="C9D4E5"/>
                </a:solidFill>
                <a:latin typeface="Calibri" pitchFamily="34" charset="0"/>
                <a:ea typeface="Calibri" pitchFamily="34" charset="-122"/>
                <a:cs typeface="Calibri" pitchFamily="34" charset="-120"/>
              </a:rPr>
              <a:t>ε - дробная часть порядка в центре (для He-Ne: 0,78)</a:t>
            </a:r>
            <a:endParaRPr lang="en-US" sz="1400" dirty="0"/>
          </a:p>
          <a:p>
            <a:pPr marL="342900" indent="-342900">
              <a:spcAft>
                <a:spcPts val="800"/>
              </a:spcAft>
              <a:buSzPct val="100000"/>
              <a:buChar char="•"/>
            </a:pPr>
            <a:r>
              <a:rPr lang="en-US" sz="1400" dirty="0">
                <a:solidFill>
                  <a:srgbClr val="C9D4E5"/>
                </a:solidFill>
                <a:latin typeface="Calibri" pitchFamily="34" charset="0"/>
                <a:ea typeface="Calibri" pitchFamily="34" charset="-122"/>
                <a:cs typeface="Calibri" pitchFamily="34" charset="-120"/>
              </a:rPr>
              <a:t>Наклон прямой r²(k) даёт длину волны λ</a:t>
            </a:r>
            <a:endParaRPr lang="en-US" sz="1400" dirty="0"/>
          </a:p>
        </p:txBody>
      </p:sp>
      <p:pic>
        <p:nvPicPr>
          <p:cNvPr id="6" name="Image 0" descr="/tmp/claude-0/-home-user-fabry-pertotq/da6804cf-1b2d-5442-843e-f7000ad32be1/scratchpad/deck/rings_R50.png">    </p:cNvPr>
          <p:cNvPicPr>
            <a:picLocks noChangeAspect="1"/>
          </p:cNvPicPr>
          <p:nvPr/>
        </p:nvPicPr>
        <p:blipFill>
          <a:blip r:embed="rId1"/>
          <a:stretch>
            <a:fillRect/>
          </a:stretch>
        </p:blipFill>
        <p:spPr>
          <a:xfrm>
            <a:off x="5394960" y="1188720"/>
            <a:ext cx="1508760" cy="1508760"/>
          </a:xfrm>
          <a:prstGeom prst="rect">
            <a:avLst/>
          </a:prstGeom>
        </p:spPr>
      </p:pic>
      <p:sp>
        <p:nvSpPr>
          <p:cNvPr id="7" name="Text 4"/>
          <p:cNvSpPr txBox="1"/>
          <p:nvPr/>
        </p:nvSpPr>
        <p:spPr>
          <a:xfrm>
            <a:off x="5394960" y="2724912"/>
            <a:ext cx="1508760" cy="228600"/>
          </a:xfrm>
          <a:prstGeom prst="rect">
            <a:avLst/>
          </a:prstGeom>
          <a:noFill/>
          <a:ln/>
        </p:spPr>
        <p:txBody>
          <a:bodyPr wrap="square" lIns="0" tIns="0" rIns="0" bIns="0" rtlCol="0" anchor="ctr"/>
          <a:lstStyle/>
          <a:p>
            <a:pPr algn="ctr" indent="0" marL="0">
              <a:buNone/>
            </a:pPr>
            <a:r>
              <a:rPr lang="en-US" sz="1100" dirty="0">
                <a:solidFill>
                  <a:srgbClr val="8FA0B8"/>
                </a:solidFill>
                <a:latin typeface="Calibri" pitchFamily="34" charset="0"/>
                <a:ea typeface="Calibri" pitchFamily="34" charset="-122"/>
                <a:cs typeface="Calibri" pitchFamily="34" charset="-120"/>
              </a:rPr>
              <a:t>R = 0,5</a:t>
            </a:r>
            <a:endParaRPr lang="en-US" sz="1100" dirty="0"/>
          </a:p>
        </p:txBody>
      </p:sp>
      <p:pic>
        <p:nvPicPr>
          <p:cNvPr id="8" name="Image 1" descr="/tmp/claude-0/-home-user-fabry-pertotq/da6804cf-1b2d-5442-843e-f7000ad32be1/scratchpad/deck/rings_R90.png">    </p:cNvPr>
          <p:cNvPicPr>
            <a:picLocks noChangeAspect="1"/>
          </p:cNvPicPr>
          <p:nvPr/>
        </p:nvPicPr>
        <p:blipFill>
          <a:blip r:embed="rId2"/>
          <a:stretch>
            <a:fillRect/>
          </a:stretch>
        </p:blipFill>
        <p:spPr>
          <a:xfrm>
            <a:off x="7086600" y="1188720"/>
            <a:ext cx="1508760" cy="1508760"/>
          </a:xfrm>
          <a:prstGeom prst="rect">
            <a:avLst/>
          </a:prstGeom>
        </p:spPr>
      </p:pic>
      <p:sp>
        <p:nvSpPr>
          <p:cNvPr id="9" name="Text 5"/>
          <p:cNvSpPr txBox="1"/>
          <p:nvPr/>
        </p:nvSpPr>
        <p:spPr>
          <a:xfrm>
            <a:off x="7086600" y="2724912"/>
            <a:ext cx="1508760" cy="228600"/>
          </a:xfrm>
          <a:prstGeom prst="rect">
            <a:avLst/>
          </a:prstGeom>
          <a:noFill/>
          <a:ln/>
        </p:spPr>
        <p:txBody>
          <a:bodyPr wrap="square" lIns="0" tIns="0" rIns="0" bIns="0" rtlCol="0" anchor="ctr"/>
          <a:lstStyle/>
          <a:p>
            <a:pPr algn="ctr" indent="0" marL="0">
              <a:buNone/>
            </a:pPr>
            <a:r>
              <a:rPr lang="en-US" sz="1100" dirty="0">
                <a:solidFill>
                  <a:srgbClr val="8FA0B8"/>
                </a:solidFill>
                <a:latin typeface="Calibri" pitchFamily="34" charset="0"/>
                <a:ea typeface="Calibri" pitchFamily="34" charset="-122"/>
                <a:cs typeface="Calibri" pitchFamily="34" charset="-120"/>
              </a:rPr>
              <a:t>R = 0,9</a:t>
            </a:r>
            <a:endParaRPr lang="en-US" sz="1100" dirty="0"/>
          </a:p>
        </p:txBody>
      </p:sp>
      <p:pic>
        <p:nvPicPr>
          <p:cNvPr id="10" name="Image 2" descr="/tmp/claude-0/-home-user-fabry-pertotq/da6804cf-1b2d-5442-843e-f7000ad32be1/scratchpad/deck/rings_R98.png">    </p:cNvPr>
          <p:cNvPicPr>
            <a:picLocks noChangeAspect="1"/>
          </p:cNvPicPr>
          <p:nvPr/>
        </p:nvPicPr>
        <p:blipFill>
          <a:blip r:embed="rId3"/>
          <a:stretch>
            <a:fillRect/>
          </a:stretch>
        </p:blipFill>
        <p:spPr>
          <a:xfrm>
            <a:off x="5394960" y="3017520"/>
            <a:ext cx="1508760" cy="1508760"/>
          </a:xfrm>
          <a:prstGeom prst="rect">
            <a:avLst/>
          </a:prstGeom>
        </p:spPr>
      </p:pic>
      <p:sp>
        <p:nvSpPr>
          <p:cNvPr id="11" name="Text 6"/>
          <p:cNvSpPr txBox="1"/>
          <p:nvPr/>
        </p:nvSpPr>
        <p:spPr>
          <a:xfrm>
            <a:off x="5394960" y="4553712"/>
            <a:ext cx="1508760" cy="228600"/>
          </a:xfrm>
          <a:prstGeom prst="rect">
            <a:avLst/>
          </a:prstGeom>
          <a:noFill/>
          <a:ln/>
        </p:spPr>
        <p:txBody>
          <a:bodyPr wrap="square" lIns="0" tIns="0" rIns="0" bIns="0" rtlCol="0" anchor="ctr"/>
          <a:lstStyle/>
          <a:p>
            <a:pPr algn="ctr" indent="0" marL="0">
              <a:buNone/>
            </a:pPr>
            <a:r>
              <a:rPr lang="en-US" sz="1100" dirty="0">
                <a:solidFill>
                  <a:srgbClr val="8FA0B8"/>
                </a:solidFill>
                <a:latin typeface="Calibri" pitchFamily="34" charset="0"/>
                <a:ea typeface="Calibri" pitchFamily="34" charset="-122"/>
                <a:cs typeface="Calibri" pitchFamily="34" charset="-120"/>
              </a:rPr>
              <a:t>R = 0,98</a:t>
            </a:r>
            <a:endParaRPr lang="en-US" sz="1100" dirty="0"/>
          </a:p>
        </p:txBody>
      </p:sp>
      <p:sp>
        <p:nvSpPr>
          <p:cNvPr id="12" name="Text 7"/>
          <p:cNvSpPr txBox="1"/>
          <p:nvPr/>
        </p:nvSpPr>
        <p:spPr>
          <a:xfrm>
            <a:off x="7086600" y="3200400"/>
            <a:ext cx="1600200" cy="1097280"/>
          </a:xfrm>
          <a:prstGeom prst="rect">
            <a:avLst/>
          </a:prstGeom>
          <a:noFill/>
          <a:ln/>
        </p:spPr>
        <p:txBody>
          <a:bodyPr wrap="square" lIns="0" tIns="0" rIns="0" bIns="0" rtlCol="0" anchor="t"/>
          <a:lstStyle/>
          <a:p>
            <a:pPr indent="0" marL="0">
              <a:buNone/>
            </a:pPr>
            <a:r>
              <a:rPr lang="en-US" sz="1100" dirty="0">
                <a:solidFill>
                  <a:srgbClr val="8FA0B8"/>
                </a:solidFill>
                <a:latin typeface="Calibri" pitchFamily="34" charset="0"/>
                <a:ea typeface="Calibri" pitchFamily="34" charset="-122"/>
                <a:cs typeface="Calibri" pitchFamily="34" charset="-120"/>
              </a:rPr>
              <a:t>Чем ближе R к 1, тем тоньше кольца и темнее промежутки</a:t>
            </a:r>
            <a:endParaRPr lang="en-US" sz="1100" dirty="0"/>
          </a:p>
        </p:txBody>
      </p:sp>
      <p:sp>
        <p:nvSpPr>
          <p:cNvPr id="13" name="Text 8"/>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8FA0B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4" name="Text 9"/>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8FA0B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Допущения модели и пятно в центре</a:t>
            </a:r>
            <a:endParaRPr lang="en-US" sz="3000" dirty="0"/>
          </a:p>
        </p:txBody>
      </p:sp>
      <p:sp>
        <p:nvSpPr>
          <p:cNvPr id="3" name="Text 1"/>
          <p:cNvSpPr txBox="1"/>
          <p:nvPr/>
        </p:nvSpPr>
        <p:spPr>
          <a:xfrm>
            <a:off x="457200" y="1097280"/>
            <a:ext cx="3931920" cy="365760"/>
          </a:xfrm>
          <a:prstGeom prst="rect">
            <a:avLst/>
          </a:prstGeom>
          <a:noFill/>
          <a:ln/>
        </p:spPr>
        <p:txBody>
          <a:bodyPr wrap="square" lIns="0" tIns="0" rIns="0" bIns="0" rtlCol="0" anchor="ctr"/>
          <a:lstStyle/>
          <a:p>
            <a:pPr indent="0" marL="0">
              <a:buNone/>
            </a:pPr>
            <a:r>
              <a:rPr lang="en-US" sz="2000" b="1" dirty="0">
                <a:solidFill>
                  <a:srgbClr val="1B2437"/>
                </a:solidFill>
                <a:latin typeface="Cambria" pitchFamily="34" charset="0"/>
                <a:ea typeface="Cambria" pitchFamily="34" charset="-122"/>
                <a:cs typeface="Cambria" pitchFamily="34" charset="-120"/>
              </a:rPr>
              <a:t>Допущения</a:t>
            </a:r>
            <a:endParaRPr lang="en-US" sz="2000" dirty="0"/>
          </a:p>
        </p:txBody>
      </p:sp>
      <p:sp>
        <p:nvSpPr>
          <p:cNvPr id="4" name="Text 2"/>
          <p:cNvSpPr txBox="1"/>
          <p:nvPr/>
        </p:nvSpPr>
        <p:spPr>
          <a:xfrm>
            <a:off x="457200" y="1554480"/>
            <a:ext cx="40233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437"/>
                </a:solidFill>
                <a:latin typeface="Calibri" pitchFamily="34" charset="0"/>
                <a:ea typeface="Calibri" pitchFamily="34" charset="-122"/>
                <a:cs typeface="Calibri" pitchFamily="34" charset="-120"/>
              </a:rPr>
              <a:t>Свет монохроматический, зеркала плоские и параллельные</a:t>
            </a:r>
            <a:endParaRPr lang="en-US" sz="1400" dirty="0"/>
          </a:p>
          <a:p>
            <a:pPr marL="342900" indent="-342900">
              <a:spcAft>
                <a:spcPts val="800"/>
              </a:spcAft>
              <a:buSzPct val="100000"/>
              <a:buChar char="•"/>
            </a:pPr>
            <a:r>
              <a:rPr lang="en-US" sz="1400" dirty="0">
                <a:solidFill>
                  <a:srgbClr val="1B2437"/>
                </a:solidFill>
                <a:latin typeface="Calibri" pitchFamily="34" charset="0"/>
                <a:ea typeface="Calibri" pitchFamily="34" charset="-122"/>
                <a:cs typeface="Calibri" pitchFamily="34" charset="-120"/>
              </a:rPr>
              <a:t>Малые углы: ошибка закона r² ∝ k на краю экрана 0,2 %</a:t>
            </a:r>
            <a:endParaRPr lang="en-US" sz="1400" dirty="0"/>
          </a:p>
          <a:p>
            <a:pPr marL="342900" indent="-342900">
              <a:spcAft>
                <a:spcPts val="800"/>
              </a:spcAft>
              <a:buSzPct val="100000"/>
              <a:buChar char="•"/>
            </a:pPr>
            <a:r>
              <a:rPr lang="en-US" sz="1400" dirty="0">
                <a:solidFill>
                  <a:srgbClr val="1B2437"/>
                </a:solidFill>
                <a:latin typeface="Calibri" pitchFamily="34" charset="0"/>
                <a:ea typeface="Calibri" pitchFamily="34" charset="-122"/>
                <a:cs typeface="Calibri" pitchFamily="34" charset="-120"/>
              </a:rPr>
              <a:t>Поглощение A одинаково у обоих зеркал: Tmax = (1 − R − A)²/(1 − R)²</a:t>
            </a:r>
            <a:endParaRPr lang="en-US" sz="1400" dirty="0"/>
          </a:p>
          <a:p>
            <a:pPr marL="342900" indent="-342900">
              <a:spcAft>
                <a:spcPts val="800"/>
              </a:spcAft>
              <a:buSzPct val="100000"/>
              <a:buChar char="•"/>
            </a:pPr>
            <a:r>
              <a:rPr lang="en-US" sz="1400" dirty="0">
                <a:solidFill>
                  <a:srgbClr val="1B2437"/>
                </a:solidFill>
                <a:latin typeface="Calibri" pitchFamily="34" charset="0"/>
                <a:ea typeface="Calibri" pitchFamily="34" charset="-122"/>
                <a:cs typeface="Calibri" pitchFamily="34" charset="-120"/>
              </a:rPr>
              <a:t>Экран вне фокуса размывает кольца: кружок радиусом 25 мкм при сдвиге 1 мм</a:t>
            </a:r>
            <a:endParaRPr lang="en-US" sz="1400" dirty="0"/>
          </a:p>
        </p:txBody>
      </p:sp>
      <p:sp>
        <p:nvSpPr>
          <p:cNvPr id="5" name="Shape 3"/>
          <p:cNvSpPr/>
          <p:nvPr/>
        </p:nvSpPr>
        <p:spPr>
          <a:xfrm>
            <a:off x="4846320" y="1097280"/>
            <a:ext cx="3840480" cy="3108960"/>
          </a:xfrm>
          <a:prstGeom prst="roundRect">
            <a:avLst>
              <a:gd name="adj" fmla="val 3529"/>
            </a:avLst>
          </a:prstGeom>
          <a:solidFill>
            <a:srgbClr val="EEF3F8"/>
          </a:solidFill>
          <a:ln w="12700">
            <a:solidFill>
              <a:srgbClr val="EEF3F8"/>
            </a:solidFill>
            <a:prstDash val="solid"/>
          </a:ln>
        </p:spPr>
      </p:sp>
      <p:sp>
        <p:nvSpPr>
          <p:cNvPr id="6" name="Text 4"/>
          <p:cNvSpPr txBox="1"/>
          <p:nvPr/>
        </p:nvSpPr>
        <p:spPr>
          <a:xfrm>
            <a:off x="5074920" y="1234440"/>
            <a:ext cx="3383280" cy="640080"/>
          </a:xfrm>
          <a:prstGeom prst="rect">
            <a:avLst/>
          </a:prstGeom>
          <a:noFill/>
          <a:ln/>
        </p:spPr>
        <p:txBody>
          <a:bodyPr wrap="square" lIns="0" tIns="0" rIns="0" bIns="0" rtlCol="0" anchor="ctr"/>
          <a:lstStyle/>
          <a:p>
            <a:pPr indent="0" marL="0">
              <a:buNone/>
            </a:pPr>
            <a:r>
              <a:rPr lang="en-US" sz="1800" b="1" dirty="0">
                <a:solidFill>
                  <a:srgbClr val="1B2437"/>
                </a:solidFill>
                <a:latin typeface="Cambria" pitchFamily="34" charset="0"/>
                <a:ea typeface="Cambria" pitchFamily="34" charset="-122"/>
                <a:cs typeface="Cambria" pitchFamily="34" charset="-120"/>
              </a:rPr>
              <a:t>Пятно в центре: интерференция</a:t>
            </a:r>
            <a:endParaRPr lang="en-US" sz="1800" dirty="0"/>
          </a:p>
        </p:txBody>
      </p:sp>
      <p:sp>
        <p:nvSpPr>
          <p:cNvPr id="7" name="Text 5"/>
          <p:cNvSpPr txBox="1"/>
          <p:nvPr/>
        </p:nvSpPr>
        <p:spPr>
          <a:xfrm>
            <a:off x="5074920" y="1965960"/>
            <a:ext cx="3383280" cy="2148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B2437"/>
                </a:solidFill>
                <a:latin typeface="Calibri" pitchFamily="34" charset="0"/>
                <a:ea typeface="Calibri" pitchFamily="34" charset="-122"/>
                <a:cs typeface="Calibri" pitchFamily="34" charset="-120"/>
              </a:rPr>
              <a:t>Это место, где разность хода близка к целому числу длин волн</a:t>
            </a:r>
            <a:endParaRPr lang="en-US" sz="1300" dirty="0"/>
          </a:p>
          <a:p>
            <a:pPr marL="342900" indent="-342900">
              <a:spcAft>
                <a:spcPts val="800"/>
              </a:spcAft>
              <a:buSzPct val="100000"/>
              <a:buChar char="•"/>
            </a:pPr>
            <a:r>
              <a:rPr lang="en-US" sz="1300" dirty="0">
                <a:solidFill>
                  <a:srgbClr val="1B2437"/>
                </a:solidFill>
                <a:latin typeface="Calibri" pitchFamily="34" charset="0"/>
                <a:ea typeface="Calibri" pitchFamily="34" charset="-122"/>
                <a:cs typeface="Calibri" pitchFamily="34" charset="-120"/>
              </a:rPr>
              <a:t>Пятно Пуассона - дифракция на диске; у нас - сложение лучей между зеркалами</a:t>
            </a:r>
            <a:endParaRPr lang="en-US" sz="1300" dirty="0"/>
          </a:p>
          <a:p>
            <a:pPr marL="342900" indent="-342900">
              <a:spcAft>
                <a:spcPts val="800"/>
              </a:spcAft>
              <a:buSzPct val="100000"/>
              <a:buChar char="•"/>
            </a:pPr>
            <a:r>
              <a:rPr lang="en-US" sz="1300" dirty="0">
                <a:solidFill>
                  <a:srgbClr val="1B2437"/>
                </a:solidFill>
                <a:latin typeface="Calibri" pitchFamily="34" charset="0"/>
                <a:ea typeface="Calibri" pitchFamily="34" charset="-122"/>
                <a:cs typeface="Calibri" pitchFamily="34" charset="-120"/>
              </a:rPr>
              <a:t>Общее: складываются когерентные волны с учётом фаз</a:t>
            </a:r>
            <a:endParaRPr lang="en-US" sz="1300" dirty="0"/>
          </a:p>
        </p:txBody>
      </p:sp>
      <p:sp>
        <p:nvSpPr>
          <p:cNvPr id="8" name="Text 6"/>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9" name="Text 7"/>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B2437"/>
                </a:solidFill>
                <a:latin typeface="Cambria" pitchFamily="34" charset="0"/>
                <a:ea typeface="Cambria" pitchFamily="34" charset="-122"/>
                <a:cs typeface="Cambria" pitchFamily="34" charset="-120"/>
              </a:rPr>
              <a:t>Три способа измерить длину волны</a:t>
            </a:r>
            <a:endParaRPr lang="en-US" sz="3000" dirty="0"/>
          </a:p>
        </p:txBody>
      </p:sp>
      <p:sp>
        <p:nvSpPr>
          <p:cNvPr id="3" name="Shape 1"/>
          <p:cNvSpPr/>
          <p:nvPr/>
        </p:nvSpPr>
        <p:spPr>
          <a:xfrm>
            <a:off x="457200" y="1143000"/>
            <a:ext cx="5120640" cy="749808"/>
          </a:xfrm>
          <a:prstGeom prst="roundRect">
            <a:avLst>
              <a:gd name="adj" fmla="val 12195"/>
            </a:avLst>
          </a:prstGeom>
          <a:solidFill>
            <a:srgbClr val="EEF3F8"/>
          </a:solidFill>
          <a:ln w="12700">
            <a:solidFill>
              <a:srgbClr val="EEF3F8"/>
            </a:solidFill>
            <a:prstDash val="solid"/>
          </a:ln>
        </p:spPr>
      </p:sp>
      <p:sp>
        <p:nvSpPr>
          <p:cNvPr id="4" name="Text 2"/>
          <p:cNvSpPr txBox="1"/>
          <p:nvPr/>
        </p:nvSpPr>
        <p:spPr>
          <a:xfrm>
            <a:off x="640080" y="1216152"/>
            <a:ext cx="4754880" cy="274320"/>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По расстоянию между пиками</a:t>
            </a:r>
            <a:endParaRPr lang="en-US" sz="1500" dirty="0"/>
          </a:p>
        </p:txBody>
      </p:sp>
      <p:sp>
        <p:nvSpPr>
          <p:cNvPr id="5" name="Text 3"/>
          <p:cNvSpPr txBox="1"/>
          <p:nvPr/>
        </p:nvSpPr>
        <p:spPr>
          <a:xfrm>
            <a:off x="640080" y="1508760"/>
            <a:ext cx="4754880" cy="329184"/>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Δλ = λ²/(2nd): по прямой Δλ(1/d) наклон b = λ²/(2n)</a:t>
            </a:r>
            <a:endParaRPr lang="en-US" sz="1200" dirty="0"/>
          </a:p>
        </p:txBody>
      </p:sp>
      <p:sp>
        <p:nvSpPr>
          <p:cNvPr id="6" name="Shape 4"/>
          <p:cNvSpPr/>
          <p:nvPr/>
        </p:nvSpPr>
        <p:spPr>
          <a:xfrm>
            <a:off x="457200" y="2011680"/>
            <a:ext cx="5120640" cy="749808"/>
          </a:xfrm>
          <a:prstGeom prst="roundRect">
            <a:avLst>
              <a:gd name="adj" fmla="val 12195"/>
            </a:avLst>
          </a:prstGeom>
          <a:solidFill>
            <a:srgbClr val="EEF3F8"/>
          </a:solidFill>
          <a:ln w="12700">
            <a:solidFill>
              <a:srgbClr val="EEF3F8"/>
            </a:solidFill>
            <a:prstDash val="solid"/>
          </a:ln>
        </p:spPr>
      </p:sp>
      <p:sp>
        <p:nvSpPr>
          <p:cNvPr id="7" name="Text 5"/>
          <p:cNvSpPr txBox="1"/>
          <p:nvPr/>
        </p:nvSpPr>
        <p:spPr>
          <a:xfrm>
            <a:off x="640080" y="2084832"/>
            <a:ext cx="4754880" cy="274320"/>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По радиусам колец</a:t>
            </a:r>
            <a:endParaRPr lang="en-US" sz="1500" dirty="0"/>
          </a:p>
        </p:txBody>
      </p:sp>
      <p:sp>
        <p:nvSpPr>
          <p:cNvPr id="8" name="Text 6"/>
          <p:cNvSpPr txBox="1"/>
          <p:nvPr/>
        </p:nvSpPr>
        <p:spPr>
          <a:xfrm>
            <a:off x="640080" y="2377440"/>
            <a:ext cx="4754880" cy="329184"/>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r² = (f²nλ/d)·k: по наклону прямой находится λ</a:t>
            </a:r>
            <a:endParaRPr lang="en-US" sz="1200" dirty="0"/>
          </a:p>
        </p:txBody>
      </p:sp>
      <p:sp>
        <p:nvSpPr>
          <p:cNvPr id="9" name="Shape 7"/>
          <p:cNvSpPr/>
          <p:nvPr/>
        </p:nvSpPr>
        <p:spPr>
          <a:xfrm>
            <a:off x="457200" y="2880360"/>
            <a:ext cx="5120640" cy="749808"/>
          </a:xfrm>
          <a:prstGeom prst="roundRect">
            <a:avLst>
              <a:gd name="adj" fmla="val 12195"/>
            </a:avLst>
          </a:prstGeom>
          <a:solidFill>
            <a:srgbClr val="EEF3F8"/>
          </a:solidFill>
          <a:ln w="12700">
            <a:solidFill>
              <a:srgbClr val="EEF3F8"/>
            </a:solidFill>
            <a:prstDash val="solid"/>
          </a:ln>
        </p:spPr>
      </p:sp>
      <p:sp>
        <p:nvSpPr>
          <p:cNvPr id="10" name="Text 8"/>
          <p:cNvSpPr txBox="1"/>
          <p:nvPr/>
        </p:nvSpPr>
        <p:spPr>
          <a:xfrm>
            <a:off x="640080" y="2953512"/>
            <a:ext cx="4754880" cy="274320"/>
          </a:xfrm>
          <a:prstGeom prst="rect">
            <a:avLst/>
          </a:prstGeom>
          <a:noFill/>
          <a:ln/>
        </p:spPr>
        <p:txBody>
          <a:bodyPr wrap="square" lIns="0" tIns="0" rIns="0" bIns="0" rtlCol="0" anchor="ctr"/>
          <a:lstStyle/>
          <a:p>
            <a:pPr indent="0" marL="0">
              <a:buNone/>
            </a:pPr>
            <a:r>
              <a:rPr lang="en-US" sz="1500" b="1" dirty="0">
                <a:solidFill>
                  <a:srgbClr val="1B2437"/>
                </a:solidFill>
                <a:latin typeface="Cambria" pitchFamily="34" charset="0"/>
                <a:ea typeface="Cambria" pitchFamily="34" charset="-122"/>
                <a:cs typeface="Cambria" pitchFamily="34" charset="-120"/>
              </a:rPr>
              <a:t>По сдвигу зеркала</a:t>
            </a:r>
            <a:endParaRPr lang="en-US" sz="1500" dirty="0"/>
          </a:p>
        </p:txBody>
      </p:sp>
      <p:sp>
        <p:nvSpPr>
          <p:cNvPr id="11" name="Text 9"/>
          <p:cNvSpPr txBox="1"/>
          <p:nvPr/>
        </p:nvSpPr>
        <p:spPr>
          <a:xfrm>
            <a:off x="640080" y="3246120"/>
            <a:ext cx="4754880" cy="329184"/>
          </a:xfrm>
          <a:prstGeom prst="rect">
            <a:avLst/>
          </a:prstGeom>
          <a:noFill/>
          <a:ln/>
        </p:spPr>
        <p:txBody>
          <a:bodyPr wrap="square" lIns="0" tIns="0" rIns="0" bIns="0" rtlCol="0" anchor="t"/>
          <a:lstStyle/>
          <a:p>
            <a:pPr indent="0" marL="0">
              <a:buNone/>
            </a:pPr>
            <a:r>
              <a:rPr lang="en-US" sz="1200" dirty="0">
                <a:solidFill>
                  <a:srgbClr val="5B6678"/>
                </a:solidFill>
                <a:latin typeface="Calibri" pitchFamily="34" charset="0"/>
                <a:ea typeface="Calibri" pitchFamily="34" charset="-122"/>
                <a:cs typeface="Calibri" pitchFamily="34" charset="-120"/>
              </a:rPr>
              <a:t>каждые λ/2 в центре появляется новое кольцо: наклон b = λ/(2n)</a:t>
            </a:r>
            <a:endParaRPr lang="en-US" sz="1200" dirty="0"/>
          </a:p>
        </p:txBody>
      </p:sp>
      <p:sp>
        <p:nvSpPr>
          <p:cNvPr id="12" name="Text 10"/>
          <p:cNvSpPr txBox="1"/>
          <p:nvPr/>
        </p:nvSpPr>
        <p:spPr>
          <a:xfrm>
            <a:off x="457200" y="3794760"/>
            <a:ext cx="5120640" cy="731520"/>
          </a:xfrm>
          <a:prstGeom prst="rect">
            <a:avLst/>
          </a:prstGeom>
          <a:noFill/>
          <a:ln/>
        </p:spPr>
        <p:txBody>
          <a:bodyPr wrap="square" lIns="0" tIns="0" rIns="0" bIns="0" rtlCol="0" anchor="t"/>
          <a:lstStyle/>
          <a:p>
            <a:pPr indent="0" marL="0">
              <a:buNone/>
            </a:pPr>
            <a:r>
              <a:rPr lang="en-US" sz="1300" dirty="0">
                <a:solidFill>
                  <a:srgbClr val="1B2437"/>
                </a:solidFill>
                <a:latin typeface="Calibri" pitchFamily="34" charset="0"/>
                <a:ea typeface="Calibri" pitchFamily="34" charset="-122"/>
                <a:cs typeface="Calibri" pitchFamily="34" charset="-120"/>
              </a:rPr>
              <a:t>Прямая проводится методом наименьших квадратов, погрешность - по коэффициенту Стьюдента. Пример: скрытая λ = 454,6 нм, найдено (456,7 ± 2,3) нм - ошибка около 0,5 %</a:t>
            </a:r>
            <a:endParaRPr lang="en-US" sz="1300" dirty="0"/>
          </a:p>
        </p:txBody>
      </p:sp>
      <p:pic>
        <p:nvPicPr>
          <p:cNvPr id="13" name="Image 0" descr="/tmp/claude-0/-home-user-fabry-pertotq/da6804cf-1b2d-5442-843e-f7000ad32be1/scratchpad/deck/lab.png">    </p:cNvPr>
          <p:cNvPicPr>
            <a:picLocks noChangeAspect="1"/>
          </p:cNvPicPr>
          <p:nvPr/>
        </p:nvPicPr>
        <p:blipFill>
          <a:blip r:embed="rId1"/>
          <a:stretch>
            <a:fillRect/>
          </a:stretch>
        </p:blipFill>
        <p:spPr>
          <a:xfrm>
            <a:off x="5806440" y="1143000"/>
            <a:ext cx="2880360" cy="1728216"/>
          </a:xfrm>
          <a:prstGeom prst="rect">
            <a:avLst/>
          </a:prstGeom>
        </p:spPr>
      </p:pic>
      <p:sp>
        <p:nvSpPr>
          <p:cNvPr id="14" name="Text 11"/>
          <p:cNvSpPr txBox="1"/>
          <p:nvPr/>
        </p:nvSpPr>
        <p:spPr>
          <a:xfrm>
            <a:off x="5806440" y="2971800"/>
            <a:ext cx="2880360" cy="640080"/>
          </a:xfrm>
          <a:prstGeom prst="rect">
            <a:avLst/>
          </a:prstGeom>
          <a:noFill/>
          <a:ln/>
        </p:spPr>
        <p:txBody>
          <a:bodyPr wrap="square" lIns="0" tIns="0" rIns="0" bIns="0" rtlCol="0" anchor="t"/>
          <a:lstStyle/>
          <a:p>
            <a:pPr indent="0" marL="0">
              <a:buNone/>
            </a:pPr>
            <a:r>
              <a:rPr lang="en-US" sz="1100" dirty="0">
                <a:solidFill>
                  <a:srgbClr val="5B6678"/>
                </a:solidFill>
                <a:latin typeface="Calibri" pitchFamily="34" charset="0"/>
                <a:ea typeface="Calibri" pitchFamily="34" charset="-122"/>
                <a:cs typeface="Calibri" pitchFamily="34" charset="-120"/>
              </a:rPr>
              <a:t>Виртуальная лабораторная: 7 заданий, 30 вариантов со скрытыми λ и A</a:t>
            </a:r>
            <a:endParaRPr lang="en-US" sz="1100" dirty="0"/>
          </a:p>
        </p:txBody>
      </p:sp>
      <p:sp>
        <p:nvSpPr>
          <p:cNvPr id="15" name="Text 12"/>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5B667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6" name="Text 13"/>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5B667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Проверка, программа, команда</a:t>
            </a:r>
            <a:endParaRPr lang="en-US" sz="3000" dirty="0"/>
          </a:p>
        </p:txBody>
      </p:sp>
      <p:sp>
        <p:nvSpPr>
          <p:cNvPr id="3" name="Shape 1"/>
          <p:cNvSpPr/>
          <p:nvPr/>
        </p:nvSpPr>
        <p:spPr>
          <a:xfrm>
            <a:off x="457200" y="1143000"/>
            <a:ext cx="2606040" cy="1417320"/>
          </a:xfrm>
          <a:prstGeom prst="roundRect">
            <a:avLst>
              <a:gd name="adj" fmla="val 7742"/>
            </a:avLst>
          </a:prstGeom>
          <a:solidFill>
            <a:srgbClr val="141E33"/>
          </a:solidFill>
          <a:ln w="12700">
            <a:solidFill>
              <a:srgbClr val="141E33"/>
            </a:solidFill>
            <a:prstDash val="solid"/>
          </a:ln>
        </p:spPr>
      </p:sp>
      <p:sp>
        <p:nvSpPr>
          <p:cNvPr id="4" name="Text 2"/>
          <p:cNvSpPr txBox="1"/>
          <p:nvPr/>
        </p:nvSpPr>
        <p:spPr>
          <a:xfrm>
            <a:off x="685800" y="1280160"/>
            <a:ext cx="2148840" cy="548640"/>
          </a:xfrm>
          <a:prstGeom prst="rect">
            <a:avLst/>
          </a:prstGeom>
          <a:noFill/>
          <a:ln/>
        </p:spPr>
        <p:txBody>
          <a:bodyPr wrap="square" lIns="0" tIns="0" rIns="0" bIns="0" rtlCol="0" anchor="ctr"/>
          <a:lstStyle/>
          <a:p>
            <a:pPr indent="0" marL="0">
              <a:buNone/>
            </a:pPr>
            <a:r>
              <a:rPr lang="en-US" sz="2800" b="1" dirty="0">
                <a:solidFill>
                  <a:srgbClr val="22C7B0"/>
                </a:solidFill>
                <a:latin typeface="Cambria" pitchFamily="34" charset="0"/>
                <a:ea typeface="Cambria" pitchFamily="34" charset="-122"/>
                <a:cs typeface="Cambria" pitchFamily="34" charset="-120"/>
              </a:rPr>
              <a:t>800 лучей</a:t>
            </a:r>
            <a:endParaRPr lang="en-US" sz="2800" dirty="0"/>
          </a:p>
        </p:txBody>
      </p:sp>
      <p:sp>
        <p:nvSpPr>
          <p:cNvPr id="5" name="Text 3"/>
          <p:cNvSpPr txBox="1"/>
          <p:nvPr/>
        </p:nvSpPr>
        <p:spPr>
          <a:xfrm>
            <a:off x="685800" y="1874520"/>
            <a:ext cx="2148840" cy="594360"/>
          </a:xfrm>
          <a:prstGeom prst="rect">
            <a:avLst/>
          </a:prstGeom>
          <a:noFill/>
          <a:ln/>
        </p:spPr>
        <p:txBody>
          <a:bodyPr wrap="square" lIns="0" tIns="0" rIns="0" bIns="0" rtlCol="0" anchor="t"/>
          <a:lstStyle/>
          <a:p>
            <a:pPr indent="0" marL="0">
              <a:buNone/>
            </a:pPr>
            <a:r>
              <a:rPr lang="en-US" sz="1300" dirty="0">
                <a:solidFill>
                  <a:srgbClr val="C9D4E5"/>
                </a:solidFill>
                <a:latin typeface="Calibri" pitchFamily="34" charset="0"/>
                <a:ea typeface="Calibri" pitchFamily="34" charset="-122"/>
                <a:cs typeface="Calibri" pitchFamily="34" charset="-120"/>
              </a:rPr>
              <a:t>прямое сложение совпадает с формулой Эйри</a:t>
            </a:r>
            <a:endParaRPr lang="en-US" sz="1300" dirty="0"/>
          </a:p>
        </p:txBody>
      </p:sp>
      <p:sp>
        <p:nvSpPr>
          <p:cNvPr id="6" name="Shape 4"/>
          <p:cNvSpPr/>
          <p:nvPr/>
        </p:nvSpPr>
        <p:spPr>
          <a:xfrm>
            <a:off x="3246120" y="1143000"/>
            <a:ext cx="2606040" cy="1417320"/>
          </a:xfrm>
          <a:prstGeom prst="roundRect">
            <a:avLst>
              <a:gd name="adj" fmla="val 7742"/>
            </a:avLst>
          </a:prstGeom>
          <a:solidFill>
            <a:srgbClr val="141E33"/>
          </a:solidFill>
          <a:ln w="12700">
            <a:solidFill>
              <a:srgbClr val="141E33"/>
            </a:solidFill>
            <a:prstDash val="solid"/>
          </a:ln>
        </p:spPr>
      </p:sp>
      <p:sp>
        <p:nvSpPr>
          <p:cNvPr id="7" name="Text 5"/>
          <p:cNvSpPr txBox="1"/>
          <p:nvPr/>
        </p:nvSpPr>
        <p:spPr>
          <a:xfrm>
            <a:off x="3474720" y="1280160"/>
            <a:ext cx="2148840" cy="548640"/>
          </a:xfrm>
          <a:prstGeom prst="rect">
            <a:avLst/>
          </a:prstGeom>
          <a:noFill/>
          <a:ln/>
        </p:spPr>
        <p:txBody>
          <a:bodyPr wrap="square" lIns="0" tIns="0" rIns="0" bIns="0" rtlCol="0" anchor="ctr"/>
          <a:lstStyle/>
          <a:p>
            <a:pPr indent="0" marL="0">
              <a:buNone/>
            </a:pPr>
            <a:r>
              <a:rPr lang="en-US" sz="2800" b="1" dirty="0">
                <a:solidFill>
                  <a:srgbClr val="22C7B0"/>
                </a:solidFill>
                <a:latin typeface="Cambria" pitchFamily="34" charset="0"/>
                <a:ea typeface="Cambria" pitchFamily="34" charset="-122"/>
                <a:cs typeface="Cambria" pitchFamily="34" charset="-120"/>
              </a:rPr>
              <a:t>&lt; 0,1 %</a:t>
            </a:r>
            <a:endParaRPr lang="en-US" sz="2800" dirty="0"/>
          </a:p>
        </p:txBody>
      </p:sp>
      <p:sp>
        <p:nvSpPr>
          <p:cNvPr id="8" name="Text 6"/>
          <p:cNvSpPr txBox="1"/>
          <p:nvPr/>
        </p:nvSpPr>
        <p:spPr>
          <a:xfrm>
            <a:off x="3474720" y="1874520"/>
            <a:ext cx="2148840" cy="594360"/>
          </a:xfrm>
          <a:prstGeom prst="rect">
            <a:avLst/>
          </a:prstGeom>
          <a:noFill/>
          <a:ln/>
        </p:spPr>
        <p:txBody>
          <a:bodyPr wrap="square" lIns="0" tIns="0" rIns="0" bIns="0" rtlCol="0" anchor="t"/>
          <a:lstStyle/>
          <a:p>
            <a:pPr indent="0" marL="0">
              <a:buNone/>
            </a:pPr>
            <a:r>
              <a:rPr lang="en-US" sz="1300" dirty="0">
                <a:solidFill>
                  <a:srgbClr val="C9D4E5"/>
                </a:solidFill>
                <a:latin typeface="Calibri" pitchFamily="34" charset="0"/>
                <a:ea typeface="Calibri" pitchFamily="34" charset="-122"/>
                <a:cs typeface="Calibri" pitchFamily="34" charset="-120"/>
              </a:rPr>
              <a:t>расхождение модели и точных формул</a:t>
            </a:r>
            <a:endParaRPr lang="en-US" sz="1300" dirty="0"/>
          </a:p>
        </p:txBody>
      </p:sp>
      <p:sp>
        <p:nvSpPr>
          <p:cNvPr id="9" name="Shape 7"/>
          <p:cNvSpPr/>
          <p:nvPr/>
        </p:nvSpPr>
        <p:spPr>
          <a:xfrm>
            <a:off x="6035040" y="1143000"/>
            <a:ext cx="2606040" cy="1417320"/>
          </a:xfrm>
          <a:prstGeom prst="roundRect">
            <a:avLst>
              <a:gd name="adj" fmla="val 7742"/>
            </a:avLst>
          </a:prstGeom>
          <a:solidFill>
            <a:srgbClr val="141E33"/>
          </a:solidFill>
          <a:ln w="12700">
            <a:solidFill>
              <a:srgbClr val="141E33"/>
            </a:solidFill>
            <a:prstDash val="solid"/>
          </a:ln>
        </p:spPr>
      </p:sp>
      <p:sp>
        <p:nvSpPr>
          <p:cNvPr id="10" name="Text 8"/>
          <p:cNvSpPr txBox="1"/>
          <p:nvPr/>
        </p:nvSpPr>
        <p:spPr>
          <a:xfrm>
            <a:off x="6263640" y="1280160"/>
            <a:ext cx="2148840" cy="548640"/>
          </a:xfrm>
          <a:prstGeom prst="rect">
            <a:avLst/>
          </a:prstGeom>
          <a:noFill/>
          <a:ln/>
        </p:spPr>
        <p:txBody>
          <a:bodyPr wrap="square" lIns="0" tIns="0" rIns="0" bIns="0" rtlCol="0" anchor="ctr"/>
          <a:lstStyle/>
          <a:p>
            <a:pPr indent="0" marL="0">
              <a:buNone/>
            </a:pPr>
            <a:r>
              <a:rPr lang="en-US" sz="2800" b="1" dirty="0">
                <a:solidFill>
                  <a:srgbClr val="22C7B0"/>
                </a:solidFill>
                <a:latin typeface="Cambria" pitchFamily="34" charset="0"/>
                <a:ea typeface="Cambria" pitchFamily="34" charset="-122"/>
                <a:cs typeface="Cambria" pitchFamily="34" charset="-120"/>
              </a:rPr>
              <a:t>30 тестов</a:t>
            </a:r>
            <a:endParaRPr lang="en-US" sz="2800" dirty="0"/>
          </a:p>
        </p:txBody>
      </p:sp>
      <p:sp>
        <p:nvSpPr>
          <p:cNvPr id="11" name="Text 9"/>
          <p:cNvSpPr txBox="1"/>
          <p:nvPr/>
        </p:nvSpPr>
        <p:spPr>
          <a:xfrm>
            <a:off x="6263640" y="1874520"/>
            <a:ext cx="2148840" cy="594360"/>
          </a:xfrm>
          <a:prstGeom prst="rect">
            <a:avLst/>
          </a:prstGeom>
          <a:noFill/>
          <a:ln/>
        </p:spPr>
        <p:txBody>
          <a:bodyPr wrap="square" lIns="0" tIns="0" rIns="0" bIns="0" rtlCol="0" anchor="t"/>
          <a:lstStyle/>
          <a:p>
            <a:pPr indent="0" marL="0">
              <a:buNone/>
            </a:pPr>
            <a:r>
              <a:rPr lang="en-US" sz="1300" dirty="0">
                <a:solidFill>
                  <a:srgbClr val="C9D4E5"/>
                </a:solidFill>
                <a:latin typeface="Calibri" pitchFamily="34" charset="0"/>
                <a:ea typeface="Calibri" pitchFamily="34" charset="-122"/>
                <a:cs typeface="Calibri" pitchFamily="34" charset="-120"/>
              </a:rPr>
              <a:t>проверяют расчёты автоматически</a:t>
            </a:r>
            <a:endParaRPr lang="en-US" sz="1300" dirty="0"/>
          </a:p>
        </p:txBody>
      </p:sp>
      <p:sp>
        <p:nvSpPr>
          <p:cNvPr id="12" name="Text 10"/>
          <p:cNvSpPr txBox="1"/>
          <p:nvPr/>
        </p:nvSpPr>
        <p:spPr>
          <a:xfrm>
            <a:off x="457200" y="2788920"/>
            <a:ext cx="8229600" cy="3200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Модель реализована на Python и работает на Windows, macOS и Linux</a:t>
            </a:r>
            <a:endParaRPr lang="en-US" sz="1400" dirty="0"/>
          </a:p>
        </p:txBody>
      </p:sp>
      <p:sp>
        <p:nvSpPr>
          <p:cNvPr id="13" name="Text 11"/>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Артём Кузнецов · Егор Сидоренко · Илья Кадников</a:t>
            </a:r>
            <a:endParaRPr lang="en-US" sz="2000" dirty="0"/>
          </a:p>
        </p:txBody>
      </p:sp>
      <p:sp>
        <p:nvSpPr>
          <p:cNvPr id="14" name="Text 12"/>
          <p:cNvSpPr txBox="1"/>
          <p:nvPr/>
        </p:nvSpPr>
        <p:spPr>
          <a:xfrm>
            <a:off x="457200" y="3749040"/>
            <a:ext cx="8229600" cy="457200"/>
          </a:xfrm>
          <a:prstGeom prst="rect">
            <a:avLst/>
          </a:prstGeom>
          <a:noFill/>
          <a:ln/>
        </p:spPr>
        <p:txBody>
          <a:bodyPr wrap="square" lIns="0" tIns="0" rIns="0" bIns="0" rtlCol="0" anchor="t"/>
          <a:lstStyle/>
          <a:p>
            <a:pPr indent="0" marL="0">
              <a:buNone/>
            </a:pPr>
            <a:r>
              <a:rPr lang="en-US" sz="1400" dirty="0">
                <a:solidFill>
                  <a:srgbClr val="22C7B0"/>
                </a:solidFill>
                <a:latin typeface="Calibri" pitchFamily="34" charset="0"/>
                <a:ea typeface="Calibri" pitchFamily="34" charset="-122"/>
                <a:cs typeface="Calibri" pitchFamily="34" charset="-120"/>
              </a:rPr>
              <a:t>Дальше: проверить работу на группе студентов; добавить интерферометры Майкельсона и Юнга</a:t>
            </a:r>
            <a:endParaRPr lang="en-US" sz="1400" dirty="0"/>
          </a:p>
        </p:txBody>
      </p:sp>
      <p:sp>
        <p:nvSpPr>
          <p:cNvPr id="15" name="Text 13"/>
          <p:cNvSpPr txBox="1"/>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rgbClr val="8FA0B8"/>
                </a:solidFill>
                <a:latin typeface="Calibri" pitchFamily="34" charset="0"/>
                <a:ea typeface="Calibri" pitchFamily="34" charset="-122"/>
                <a:cs typeface="Calibri" pitchFamily="34" charset="-120"/>
              </a:rPr>
              <a:t>Интерферометр Фабри - Перо · проект СЭЛФ, МГТУ им. Н. Э. Баумана</a:t>
            </a:r>
            <a:endParaRPr lang="en-US" sz="1000" dirty="0"/>
          </a:p>
        </p:txBody>
      </p:sp>
      <p:sp>
        <p:nvSpPr>
          <p:cNvPr id="16" name="Text 14"/>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1000" dirty="0">
                <a:solidFill>
                  <a:srgbClr val="8FA0B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Интерферометр Фабри - Перо</dc:title>
  <dc:subject>PptxGenJS Presentation</dc:subject>
  <dc:creator>Сидоренко Е. К., Кузнецов А. В., Кадников И. В.</dc:creator>
  <cp:lastModifiedBy>Сидоренко Е. К., Кузнецов А. В., Кадников И. В.</cp:lastModifiedBy>
  <cp:revision>1</cp:revision>
  <dcterms:created xsi:type="dcterms:W3CDTF">2026-10-16T20:50:37Z</dcterms:created>
  <dcterms:modified xsi:type="dcterms:W3CDTF">2026-10-16T20:50:37Z</dcterms:modified>
</cp:coreProperties>
</file>