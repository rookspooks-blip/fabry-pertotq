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Добрый день! Нас зовут Егор, Артём и Илья, мы учимся в МГТУ имени Баумана, группы ИБМ5-31Б и ИБМ2-32Б. Наш проект выполнен в рамках СЭЛФ и посвящён интерферометру Фабри-Перо: мы построили его математическую модель и на её основе сделали виртуальную лабораторную работу. Кольца, которые вы видите на слайде, - это не фотография, а картинка, рассчитанная нашей моделью.</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Рассказывать о проекте мы будем со стороны природы света. Свет - это волна, и у волн есть удивительное свойство: если сложить две волны так, чтобы гребень одной пришёлся на впадину другой, света не останется совсем. В интерферометре свет многократно отражается между двумя зеркалами, и на экране возникают светлые и тёмные кольца. По расстоянию между кольцами можно измерить длину световой волны, причём очень точно. Проблема в том, что настоящий прибор стоит дорого, и в учебных лабораториях он встречается редко. Поэтому мы решили создать его точную модель.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Начнём с главного - выведем формулу Эйри. Свет попадает между двумя зеркалами и многократно отражается. При каждом отражении амплитуда умножается на корень из R, а соседние лучи отличаются по фазе на величину дельта, равную четыре пи n d косинус тэта, делённому на лямбда. Складываем бесконечную серию лучей. Это обычная геометрическая прогрессия, её сумма равна t в квадрате, делённому на единицу минус R на е в степени i дельта. Берём квадрат модуля и получаем формулу Эйри: пропускание T равно T-макс, делённому на единицу плюс F на синус квадрат дельта пополам, где F равно четыре R, делённому на единицу минус R в квадрате. Максимумы наблюдаются там, где дельта равна два пи m. На графике справа видны узкие острые пики, это именно те длины волн, которые прибор пропускает.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Из формулы Эйри следуют все характеристики прибора. Расстояние между соседними пиками, то есть область свободной дисперсии, равно лямбда в квадрате, делённому на два n d. Для He-Ne лазера при зазоре в пять миллиметров это около сорока пикометров. Ширина самого пика составляет примерно один и три десятых пикометра. Отношение этих величин называется резкостью, она равна примерно пи корень из R, делённому на единицу минус R, то есть около тридцати. Разрешающая способность, лямбда делить на ширину пика, получается около четырёхсот семидесяти тысяч. Две спектральные линии мы считаем различимыми, если яркость между ними не больше 0,81 от максимума. Это тот же провал, что и в критерии Рэлея для дифракционной решётки, и для пиков Эйри он достигается, когда разность длин волн немного превышает ширину пика, примерно в 1,03 раза.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Теперь о том, откуда берутся кольца. Свет идёт под разными углами, а линза собирает лучи с одинаковым наклоном в одну окружность. Условие светлого кольца: два n d косинус тэта равно m лямбда. Отсюда получаем радиусы колец: r в квадрате равно f в квадрате n лямбда, делённому на d, умноженному на k минус единица плюс эпсилон. Здесь эпсилон - это дробная часть порядка интерференции в центре. Из этой формулы следует, что квадрат радиуса растёт линейно с номером кольца, а площади между соседними кольцами одинаковы и равны пи f в квадрате n лямбда, делённому на d. Наклон прямой r в квадрате от k позволяет найти длину волны. Справа показано, как меняются кольца при отражении зеркал 0,5, 0,9 и 0,98: чем ближе R к единице, тем тоньше светлые кольца.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Любая модель опирается на допущения, и мы разобрали каждое из них. Свет мы считаем монохроматическим, а зеркала плоскими и параллельными. Мы работаем в приближении малых углов, и на краю экрана закон «квадрат радиуса пропорционален номеру кольца» нарушается лишь на 0,2 процента. Поглощение зеркал снижает высоту пиков. Если экран стоит не в фокусе линзы, кольца размываются: при смещении на один миллиметр кружок размытия составляет 25 микрометров. Отдельный интересный вопрос - что такое светлое пятно в центре, интерференция или дифракция. Это интерференция: в центре разность хода между лучами близка к целому числу длин волн. Пятно Пуассона, в отличие от него, возникает из-за дифракции на диске. Общее у них одно: в обоих случаях складываются когерентные волны с учётом фаз.</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На этой физике мы построили лабораторную работу, в которой длину волны можно найти тремя независимыми способами. Первый - по расстоянию между пиками. Так как дельта лямбда равна лямбда в квадрате, делённому на два n d, график зависимости от единицы на d даёт прямую, и по её наклону находится лямбда. Второй способ - по радиусам колец: квадрат радиуса пропорционален номеру кольца. Третий - по сдвигу зеркала: каждые полдлины волны в центре появляется новое кольцо. Прямую мы проводим методом наименьших квадратов, а погрешность оцениваем с помощью коэффициента Стьюдента. Например, при скрытой длине волны 454,6 нанометра студент получил 456,7 плюс-минус 2,3, то есть ошибка составила около полупроцента. Справа показано окно виртуальной лабораторной работы: в ней семь заданий и тридцать вариантов со скрытыми величинами.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Как мы убеждались в правильности модели. Во-первых, прямое сложение 800 отражённых лучей полностью совпадает с формулой Эйри. Во-вторых, расчёты программы расходятся с точными формулами менее чем на 0,1 процента, и это проверяют 30 автоматических тестов. Модель реализована на языке Python и работает на Windows, macOS и Linux. Над проектом работали три человека: Артём отвечал за физику, Егор - за визуализацию и обработку результатов, Илья - за программную часть. В дальнейшем мы хотим проверить лабораторную работу на целой группе студентов и добавить модели интерферометров Майкельсона и Юнга. Благодарим за внимание!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220"/>
        </a:solidFill>
      </p:bgPr>
    </p:bg>
    <p:spTree>
      <p:nvGrpSpPr>
        <p:cNvPr id="1" name=""/>
        <p:cNvGrpSpPr/>
        <p:nvPr/>
      </p:nvGrpSpPr>
      <p:grpSpPr>
        <a:xfrm>
          <a:off x="0" y="0"/>
          <a:ext cx="0" cy="0"/>
          <a:chOff x="0" y="0"/>
          <a:chExt cx="0" cy="0"/>
        </a:xfrm>
      </p:grpSpPr>
      <p:pic>
        <p:nvPicPr>
          <p:cNvPr id="2" name="Image 0" descr="/tmp/claude-0/-home-user-fabry-pertotq/da6804cf-1b2d-5442-843e-f7000ad32be1/scratchpad/deck/rings_circle.png">    </p:cNvPr>
          <p:cNvPicPr>
            <a:picLocks noChangeAspect="1"/>
          </p:cNvPicPr>
          <p:nvPr/>
        </p:nvPicPr>
        <p:blipFill>
          <a:blip r:embed="rId1"/>
          <a:stretch>
            <a:fillRect/>
          </a:stretch>
        </p:blipFill>
        <p:spPr>
          <a:xfrm>
            <a:off x="5394960" y="685800"/>
            <a:ext cx="3291840" cy="3291840"/>
          </a:xfrm>
          <a:prstGeom prst="rect">
            <a:avLst/>
          </a:prstGeom>
        </p:spPr>
      </p:pic>
      <p:sp>
        <p:nvSpPr>
          <p:cNvPr id="3" name="Text 0"/>
          <p:cNvSpPr txBox="1"/>
          <p:nvPr/>
        </p:nvSpPr>
        <p:spPr>
          <a:xfrm>
            <a:off x="457200" y="822960"/>
            <a:ext cx="4754880" cy="1463040"/>
          </a:xfrm>
          <a:prstGeom prst="rect">
            <a:avLst/>
          </a:prstGeom>
          <a:noFill/>
          <a:ln/>
        </p:spPr>
        <p:txBody>
          <a:bodyPr wrap="square" lIns="0" tIns="0" rIns="0" bIns="0" rtlCol="0" anchor="t"/>
          <a:lstStyle/>
          <a:p>
            <a:pPr indent="0" marL="0">
              <a:buNone/>
            </a:pPr>
            <a:r>
              <a:rPr lang="en-US" sz="4000" b="1" dirty="0">
                <a:solidFill>
                  <a:srgbClr val="FFFFFF"/>
                </a:solidFill>
                <a:latin typeface="Cambria" pitchFamily="34" charset="0"/>
                <a:ea typeface="Cambria" pitchFamily="34" charset="-122"/>
                <a:cs typeface="Cambria" pitchFamily="34" charset="-120"/>
              </a:rPr>
              <a:t>Интерферометр</a:t>
            </a:r>
            <a:endParaRPr lang="en-US" sz="4000" dirty="0"/>
          </a:p>
          <a:p>
            <a:pPr indent="0" marL="0">
              <a:buNone/>
            </a:pPr>
            <a:r>
              <a:rPr lang="en-US" sz="4000" b="1" dirty="0">
                <a:solidFill>
                  <a:srgbClr val="FFFFFF"/>
                </a:solidFill>
                <a:latin typeface="Cambria" pitchFamily="34" charset="0"/>
                <a:ea typeface="Cambria" pitchFamily="34" charset="-122"/>
                <a:cs typeface="Cambria" pitchFamily="34" charset="-120"/>
              </a:rPr>
              <a:t>Фабри — Перо</a:t>
            </a:r>
            <a:endParaRPr lang="en-US" sz="4000" dirty="0"/>
          </a:p>
        </p:txBody>
      </p:sp>
      <p:sp>
        <p:nvSpPr>
          <p:cNvPr id="4" name="Text 1"/>
          <p:cNvSpPr txBox="1"/>
          <p:nvPr/>
        </p:nvSpPr>
        <p:spPr>
          <a:xfrm>
            <a:off x="457200" y="2423160"/>
            <a:ext cx="4572000" cy="1143000"/>
          </a:xfrm>
          <a:prstGeom prst="rect">
            <a:avLst/>
          </a:prstGeom>
          <a:noFill/>
          <a:ln/>
        </p:spPr>
        <p:txBody>
          <a:bodyPr wrap="square" lIns="0" tIns="0" rIns="0" bIns="0" rtlCol="0" anchor="t"/>
          <a:lstStyle/>
          <a:p>
            <a:pPr indent="0" marL="0">
              <a:buNone/>
            </a:pPr>
            <a:r>
              <a:rPr lang="en-US" sz="2000" dirty="0">
                <a:solidFill>
                  <a:srgbClr val="22C7B0"/>
                </a:solidFill>
                <a:latin typeface="Calibri" pitchFamily="34" charset="0"/>
                <a:ea typeface="Calibri" pitchFamily="34" charset="-122"/>
                <a:cs typeface="Calibri" pitchFamily="34" charset="-120"/>
              </a:rPr>
              <a:t>Модель многолучевой интерференции света и виртуальная лабораторная работа</a:t>
            </a:r>
            <a:endParaRPr lang="en-US" sz="2000" dirty="0"/>
          </a:p>
        </p:txBody>
      </p:sp>
      <p:sp>
        <p:nvSpPr>
          <p:cNvPr id="5" name="Text 2"/>
          <p:cNvSpPr txBox="1"/>
          <p:nvPr/>
        </p:nvSpPr>
        <p:spPr>
          <a:xfrm>
            <a:off x="457200" y="3977640"/>
            <a:ext cx="5486400" cy="274320"/>
          </a:xfrm>
          <a:prstGeom prst="rect">
            <a:avLst/>
          </a:prstGeom>
          <a:noFill/>
          <a:ln/>
        </p:spPr>
        <p:txBody>
          <a:bodyPr wrap="square" lIns="0" tIns="0" rIns="0" bIns="0" rtlCol="0" anchor="ctr"/>
          <a:lstStyle/>
          <a:p>
            <a:pPr indent="0" marL="0">
              <a:buNone/>
            </a:pPr>
            <a:r>
              <a:rPr lang="en-US" sz="1400" dirty="0">
                <a:solidFill>
                  <a:srgbClr val="C9D4E5"/>
                </a:solidFill>
                <a:latin typeface="Calibri" pitchFamily="34" charset="0"/>
                <a:ea typeface="Calibri" pitchFamily="34" charset="-122"/>
                <a:cs typeface="Calibri" pitchFamily="34" charset="-120"/>
              </a:rPr>
              <a:t>Проект СЭЛФ · МГТУ им. Н. Э. Баумана</a:t>
            </a:r>
            <a:endParaRPr lang="en-US" sz="1400" dirty="0"/>
          </a:p>
        </p:txBody>
      </p:sp>
      <p:sp>
        <p:nvSpPr>
          <p:cNvPr id="6" name="Text 3"/>
          <p:cNvSpPr txBox="1"/>
          <p:nvPr/>
        </p:nvSpPr>
        <p:spPr>
          <a:xfrm>
            <a:off x="457200" y="4297680"/>
            <a:ext cx="8229600" cy="274320"/>
          </a:xfrm>
          <a:prstGeom prst="rect">
            <a:avLst/>
          </a:prstGeom>
          <a:noFill/>
          <a:ln/>
        </p:spPr>
        <p:txBody>
          <a:bodyPr wrap="square" lIns="0" tIns="0" rIns="0" bIns="0" rtlCol="0" anchor="ctr"/>
          <a:lstStyle/>
          <a:p>
            <a:pPr indent="0" marL="0">
              <a:buNone/>
            </a:pPr>
            <a:r>
              <a:rPr lang="en-US" sz="1200" dirty="0">
                <a:solidFill>
                  <a:srgbClr val="8FA0B8"/>
                </a:solidFill>
                <a:latin typeface="Calibri" pitchFamily="34" charset="0"/>
                <a:ea typeface="Calibri" pitchFamily="34" charset="-122"/>
                <a:cs typeface="Calibri" pitchFamily="34" charset="-120"/>
              </a:rPr>
              <a:t>Сидоренко Е. К. (ИБМ5-31Б) · Кузнецов А. В. · Кадников И. В. (ИБМ2-32Б)</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t"/>
          <a:lstStyle/>
          <a:p>
            <a:pPr indent="0" marL="0">
              <a:buNone/>
            </a:pPr>
            <a:r>
              <a:rPr lang="en-US" sz="3000" b="1" dirty="0">
                <a:solidFill>
                  <a:srgbClr val="1B2437"/>
                </a:solidFill>
                <a:latin typeface="Cambria" pitchFamily="34" charset="0"/>
                <a:ea typeface="Cambria" pitchFamily="34" charset="-122"/>
                <a:cs typeface="Cambria" pitchFamily="34" charset="-120"/>
              </a:rPr>
              <a:t>Зачем это нужно</a:t>
            </a:r>
            <a:endParaRPr lang="en-US" sz="3000" dirty="0"/>
          </a:p>
        </p:txBody>
      </p:sp>
      <p:sp>
        <p:nvSpPr>
          <p:cNvPr id="3" name="Shape 1"/>
          <p:cNvSpPr/>
          <p:nvPr/>
        </p:nvSpPr>
        <p:spPr>
          <a:xfrm>
            <a:off x="457200" y="1234440"/>
            <a:ext cx="2606040" cy="3200400"/>
          </a:xfrm>
          <a:prstGeom prst="roundRect">
            <a:avLst>
              <a:gd name="adj" fmla="val 4211"/>
            </a:avLst>
          </a:prstGeom>
          <a:solidFill>
            <a:srgbClr val="EEF3F8"/>
          </a:solidFill>
          <a:ln w="12700">
            <a:solidFill>
              <a:srgbClr val="EEF3F8"/>
            </a:solidFill>
            <a:prstDash val="solid"/>
          </a:ln>
        </p:spPr>
      </p:sp>
      <p:sp>
        <p:nvSpPr>
          <p:cNvPr id="4" name="Shape 2"/>
          <p:cNvSpPr/>
          <p:nvPr/>
        </p:nvSpPr>
        <p:spPr>
          <a:xfrm>
            <a:off x="685800" y="1463040"/>
            <a:ext cx="548640" cy="548640"/>
          </a:xfrm>
          <a:prstGeom prst="ellipse">
            <a:avLst/>
          </a:prstGeom>
          <a:solidFill>
            <a:srgbClr val="22C7B0"/>
          </a:solidFill>
          <a:ln w="12700">
            <a:solidFill>
              <a:srgbClr val="22C7B0"/>
            </a:solidFill>
            <a:prstDash val="solid"/>
          </a:ln>
        </p:spPr>
      </p:sp>
      <p:sp>
        <p:nvSpPr>
          <p:cNvPr id="5" name="Text 3"/>
          <p:cNvSpPr txBox="1"/>
          <p:nvPr/>
        </p:nvSpPr>
        <p:spPr>
          <a:xfrm>
            <a:off x="685800" y="1463040"/>
            <a:ext cx="548640" cy="548640"/>
          </a:xfrm>
          <a:prstGeom prst="rect">
            <a:avLst/>
          </a:prstGeom>
          <a:noFill/>
          <a:ln/>
        </p:spPr>
        <p:txBody>
          <a:bodyPr wrap="square" lIns="0" tIns="0" rIns="0" bIns="0" rtlCol="0" anchor="ctr"/>
          <a:lstStyle/>
          <a:p>
            <a:pPr algn="ctr" indent="0" marL="0">
              <a:buNone/>
            </a:pPr>
            <a:r>
              <a:rPr lang="en-US" sz="2200" b="1" dirty="0">
                <a:solidFill>
                  <a:srgbClr val="0B1220"/>
                </a:solidFill>
                <a:latin typeface="Cambria" pitchFamily="34" charset="0"/>
                <a:ea typeface="Cambria" pitchFamily="34" charset="-122"/>
                <a:cs typeface="Cambria" pitchFamily="34" charset="-120"/>
              </a:rPr>
              <a:t>1</a:t>
            </a:r>
            <a:endParaRPr lang="en-US" sz="2200" dirty="0"/>
          </a:p>
        </p:txBody>
      </p:sp>
      <p:sp>
        <p:nvSpPr>
          <p:cNvPr id="6" name="Text 4"/>
          <p:cNvSpPr txBox="1"/>
          <p:nvPr/>
        </p:nvSpPr>
        <p:spPr>
          <a:xfrm>
            <a:off x="685800" y="2194560"/>
            <a:ext cx="2148840" cy="640080"/>
          </a:xfrm>
          <a:prstGeom prst="rect">
            <a:avLst/>
          </a:prstGeom>
          <a:noFill/>
          <a:ln/>
        </p:spPr>
        <p:txBody>
          <a:bodyPr wrap="square" lIns="0" tIns="0" rIns="0" bIns="0" rtlCol="0" anchor="t"/>
          <a:lstStyle/>
          <a:p>
            <a:pPr indent="0" marL="0">
              <a:buNone/>
            </a:pPr>
            <a:r>
              <a:rPr lang="en-US" sz="2000" b="1" dirty="0">
                <a:solidFill>
                  <a:srgbClr val="1B2437"/>
                </a:solidFill>
                <a:latin typeface="Cambria" pitchFamily="34" charset="0"/>
                <a:ea typeface="Cambria" pitchFamily="34" charset="-122"/>
                <a:cs typeface="Cambria" pitchFamily="34" charset="-120"/>
              </a:rPr>
              <a:t>Свет — волна</a:t>
            </a:r>
            <a:endParaRPr lang="en-US" sz="2000" dirty="0"/>
          </a:p>
        </p:txBody>
      </p:sp>
      <p:sp>
        <p:nvSpPr>
          <p:cNvPr id="7" name="Text 5"/>
          <p:cNvSpPr txBox="1"/>
          <p:nvPr/>
        </p:nvSpPr>
        <p:spPr>
          <a:xfrm>
            <a:off x="685800" y="2880360"/>
            <a:ext cx="2148840" cy="1463040"/>
          </a:xfrm>
          <a:prstGeom prst="rect">
            <a:avLst/>
          </a:prstGeom>
          <a:noFill/>
          <a:ln/>
        </p:spPr>
        <p:txBody>
          <a:bodyPr wrap="square" lIns="0" tIns="0" rIns="0" bIns="0" rtlCol="0" anchor="t"/>
          <a:lstStyle/>
          <a:p>
            <a:pPr indent="0" marL="0">
              <a:buNone/>
            </a:pPr>
            <a:r>
              <a:rPr lang="en-US" sz="1400" dirty="0">
                <a:solidFill>
                  <a:srgbClr val="5B6678"/>
                </a:solidFill>
                <a:latin typeface="Calibri" pitchFamily="34" charset="0"/>
                <a:ea typeface="Calibri" pitchFamily="34" charset="-122"/>
                <a:cs typeface="Calibri" pitchFamily="34" charset="-120"/>
              </a:rPr>
              <a:t>Две световые волны могут погасить друг друга. Так возникают светлые и тёмные кольца: только волны так себя ведут.</a:t>
            </a:r>
            <a:endParaRPr lang="en-US" sz="1400" dirty="0"/>
          </a:p>
        </p:txBody>
      </p:sp>
      <p:sp>
        <p:nvSpPr>
          <p:cNvPr id="8" name="Shape 6"/>
          <p:cNvSpPr/>
          <p:nvPr/>
        </p:nvSpPr>
        <p:spPr>
          <a:xfrm>
            <a:off x="3246120" y="1234440"/>
            <a:ext cx="2606040" cy="3200400"/>
          </a:xfrm>
          <a:prstGeom prst="roundRect">
            <a:avLst>
              <a:gd name="adj" fmla="val 4211"/>
            </a:avLst>
          </a:prstGeom>
          <a:solidFill>
            <a:srgbClr val="EEF3F8"/>
          </a:solidFill>
          <a:ln w="12700">
            <a:solidFill>
              <a:srgbClr val="EEF3F8"/>
            </a:solidFill>
            <a:prstDash val="solid"/>
          </a:ln>
        </p:spPr>
      </p:sp>
      <p:sp>
        <p:nvSpPr>
          <p:cNvPr id="9" name="Shape 7"/>
          <p:cNvSpPr/>
          <p:nvPr/>
        </p:nvSpPr>
        <p:spPr>
          <a:xfrm>
            <a:off x="3474720" y="1463040"/>
            <a:ext cx="548640" cy="548640"/>
          </a:xfrm>
          <a:prstGeom prst="ellipse">
            <a:avLst/>
          </a:prstGeom>
          <a:solidFill>
            <a:srgbClr val="22C7B0"/>
          </a:solidFill>
          <a:ln w="12700">
            <a:solidFill>
              <a:srgbClr val="22C7B0"/>
            </a:solidFill>
            <a:prstDash val="solid"/>
          </a:ln>
        </p:spPr>
      </p:sp>
      <p:sp>
        <p:nvSpPr>
          <p:cNvPr id="10" name="Text 8"/>
          <p:cNvSpPr txBox="1"/>
          <p:nvPr/>
        </p:nvSpPr>
        <p:spPr>
          <a:xfrm>
            <a:off x="3474720" y="1463040"/>
            <a:ext cx="548640" cy="548640"/>
          </a:xfrm>
          <a:prstGeom prst="rect">
            <a:avLst/>
          </a:prstGeom>
          <a:noFill/>
          <a:ln/>
        </p:spPr>
        <p:txBody>
          <a:bodyPr wrap="square" lIns="0" tIns="0" rIns="0" bIns="0" rtlCol="0" anchor="ctr"/>
          <a:lstStyle/>
          <a:p>
            <a:pPr algn="ctr" indent="0" marL="0">
              <a:buNone/>
            </a:pPr>
            <a:r>
              <a:rPr lang="en-US" sz="2200" b="1" dirty="0">
                <a:solidFill>
                  <a:srgbClr val="0B1220"/>
                </a:solidFill>
                <a:latin typeface="Cambria" pitchFamily="34" charset="0"/>
                <a:ea typeface="Cambria" pitchFamily="34" charset="-122"/>
                <a:cs typeface="Cambria" pitchFamily="34" charset="-120"/>
              </a:rPr>
              <a:t>2</a:t>
            </a:r>
            <a:endParaRPr lang="en-US" sz="2200" dirty="0"/>
          </a:p>
        </p:txBody>
      </p:sp>
      <p:sp>
        <p:nvSpPr>
          <p:cNvPr id="11" name="Text 9"/>
          <p:cNvSpPr txBox="1"/>
          <p:nvPr/>
        </p:nvSpPr>
        <p:spPr>
          <a:xfrm>
            <a:off x="3474720" y="2194560"/>
            <a:ext cx="2148840" cy="640080"/>
          </a:xfrm>
          <a:prstGeom prst="rect">
            <a:avLst/>
          </a:prstGeom>
          <a:noFill/>
          <a:ln/>
        </p:spPr>
        <p:txBody>
          <a:bodyPr wrap="square" lIns="0" tIns="0" rIns="0" bIns="0" rtlCol="0" anchor="t"/>
          <a:lstStyle/>
          <a:p>
            <a:pPr indent="0" marL="0">
              <a:buNone/>
            </a:pPr>
            <a:r>
              <a:rPr lang="en-US" sz="2000" b="1" dirty="0">
                <a:solidFill>
                  <a:srgbClr val="1B2437"/>
                </a:solidFill>
                <a:latin typeface="Cambria" pitchFamily="34" charset="0"/>
                <a:ea typeface="Cambria" pitchFamily="34" charset="-122"/>
                <a:cs typeface="Cambria" pitchFamily="34" charset="-120"/>
              </a:rPr>
              <a:t>Кольца меряют длину волны</a:t>
            </a:r>
            <a:endParaRPr lang="en-US" sz="2000" dirty="0"/>
          </a:p>
        </p:txBody>
      </p:sp>
      <p:sp>
        <p:nvSpPr>
          <p:cNvPr id="12" name="Text 10"/>
          <p:cNvSpPr txBox="1"/>
          <p:nvPr/>
        </p:nvSpPr>
        <p:spPr>
          <a:xfrm>
            <a:off x="3474720" y="2880360"/>
            <a:ext cx="2148840" cy="1463040"/>
          </a:xfrm>
          <a:prstGeom prst="rect">
            <a:avLst/>
          </a:prstGeom>
          <a:noFill/>
          <a:ln/>
        </p:spPr>
        <p:txBody>
          <a:bodyPr wrap="square" lIns="0" tIns="0" rIns="0" bIns="0" rtlCol="0" anchor="t"/>
          <a:lstStyle/>
          <a:p>
            <a:pPr indent="0" marL="0">
              <a:buNone/>
            </a:pPr>
            <a:r>
              <a:rPr lang="en-US" sz="1400" dirty="0">
                <a:solidFill>
                  <a:srgbClr val="5B6678"/>
                </a:solidFill>
                <a:latin typeface="Calibri" pitchFamily="34" charset="0"/>
                <a:ea typeface="Calibri" pitchFamily="34" charset="-122"/>
                <a:cs typeface="Calibri" pitchFamily="34" charset="-120"/>
              </a:rPr>
              <a:t>По расстоянию между кольцами находят длину световой волны с точностью до долей процента.</a:t>
            </a:r>
            <a:endParaRPr lang="en-US" sz="1400" dirty="0"/>
          </a:p>
        </p:txBody>
      </p:sp>
      <p:sp>
        <p:nvSpPr>
          <p:cNvPr id="13" name="Shape 11"/>
          <p:cNvSpPr/>
          <p:nvPr/>
        </p:nvSpPr>
        <p:spPr>
          <a:xfrm>
            <a:off x="6035040" y="1234440"/>
            <a:ext cx="2606040" cy="3200400"/>
          </a:xfrm>
          <a:prstGeom prst="roundRect">
            <a:avLst>
              <a:gd name="adj" fmla="val 4211"/>
            </a:avLst>
          </a:prstGeom>
          <a:solidFill>
            <a:srgbClr val="EEF3F8"/>
          </a:solidFill>
          <a:ln w="12700">
            <a:solidFill>
              <a:srgbClr val="EEF3F8"/>
            </a:solidFill>
            <a:prstDash val="solid"/>
          </a:ln>
        </p:spPr>
      </p:sp>
      <p:sp>
        <p:nvSpPr>
          <p:cNvPr id="14" name="Shape 12"/>
          <p:cNvSpPr/>
          <p:nvPr/>
        </p:nvSpPr>
        <p:spPr>
          <a:xfrm>
            <a:off x="6263640" y="1463040"/>
            <a:ext cx="548640" cy="548640"/>
          </a:xfrm>
          <a:prstGeom prst="ellipse">
            <a:avLst/>
          </a:prstGeom>
          <a:solidFill>
            <a:srgbClr val="22C7B0"/>
          </a:solidFill>
          <a:ln w="12700">
            <a:solidFill>
              <a:srgbClr val="22C7B0"/>
            </a:solidFill>
            <a:prstDash val="solid"/>
          </a:ln>
        </p:spPr>
      </p:sp>
      <p:sp>
        <p:nvSpPr>
          <p:cNvPr id="15" name="Text 13"/>
          <p:cNvSpPr txBox="1"/>
          <p:nvPr/>
        </p:nvSpPr>
        <p:spPr>
          <a:xfrm>
            <a:off x="6263640" y="1463040"/>
            <a:ext cx="548640" cy="548640"/>
          </a:xfrm>
          <a:prstGeom prst="rect">
            <a:avLst/>
          </a:prstGeom>
          <a:noFill/>
          <a:ln/>
        </p:spPr>
        <p:txBody>
          <a:bodyPr wrap="square" lIns="0" tIns="0" rIns="0" bIns="0" rtlCol="0" anchor="ctr"/>
          <a:lstStyle/>
          <a:p>
            <a:pPr algn="ctr" indent="0" marL="0">
              <a:buNone/>
            </a:pPr>
            <a:r>
              <a:rPr lang="en-US" sz="2200" b="1" dirty="0">
                <a:solidFill>
                  <a:srgbClr val="0B1220"/>
                </a:solidFill>
                <a:latin typeface="Cambria" pitchFamily="34" charset="0"/>
                <a:ea typeface="Cambria" pitchFamily="34" charset="-122"/>
                <a:cs typeface="Cambria" pitchFamily="34" charset="-120"/>
              </a:rPr>
              <a:t>3</a:t>
            </a:r>
            <a:endParaRPr lang="en-US" sz="2200" dirty="0"/>
          </a:p>
        </p:txBody>
      </p:sp>
      <p:sp>
        <p:nvSpPr>
          <p:cNvPr id="16" name="Text 14"/>
          <p:cNvSpPr txBox="1"/>
          <p:nvPr/>
        </p:nvSpPr>
        <p:spPr>
          <a:xfrm>
            <a:off x="6263640" y="2194560"/>
            <a:ext cx="2148840" cy="640080"/>
          </a:xfrm>
          <a:prstGeom prst="rect">
            <a:avLst/>
          </a:prstGeom>
          <a:noFill/>
          <a:ln/>
        </p:spPr>
        <p:txBody>
          <a:bodyPr wrap="square" lIns="0" tIns="0" rIns="0" bIns="0" rtlCol="0" anchor="t"/>
          <a:lstStyle/>
          <a:p>
            <a:pPr indent="0" marL="0">
              <a:buNone/>
            </a:pPr>
            <a:r>
              <a:rPr lang="en-US" sz="2000" b="1" dirty="0">
                <a:solidFill>
                  <a:srgbClr val="1B2437"/>
                </a:solidFill>
                <a:latin typeface="Cambria" pitchFamily="34" charset="0"/>
                <a:ea typeface="Cambria" pitchFamily="34" charset="-122"/>
                <a:cs typeface="Cambria" pitchFamily="34" charset="-120"/>
              </a:rPr>
              <a:t>Но прибор дорог</a:t>
            </a:r>
            <a:endParaRPr lang="en-US" sz="2000" dirty="0"/>
          </a:p>
        </p:txBody>
      </p:sp>
      <p:sp>
        <p:nvSpPr>
          <p:cNvPr id="17" name="Text 15"/>
          <p:cNvSpPr txBox="1"/>
          <p:nvPr/>
        </p:nvSpPr>
        <p:spPr>
          <a:xfrm>
            <a:off x="6263640" y="2880360"/>
            <a:ext cx="2148840" cy="1463040"/>
          </a:xfrm>
          <a:prstGeom prst="rect">
            <a:avLst/>
          </a:prstGeom>
          <a:noFill/>
          <a:ln/>
        </p:spPr>
        <p:txBody>
          <a:bodyPr wrap="square" lIns="0" tIns="0" rIns="0" bIns="0" rtlCol="0" anchor="t"/>
          <a:lstStyle/>
          <a:p>
            <a:pPr indent="0" marL="0">
              <a:buNone/>
            </a:pPr>
            <a:r>
              <a:rPr lang="en-US" sz="1400" dirty="0">
                <a:solidFill>
                  <a:srgbClr val="5B6678"/>
                </a:solidFill>
                <a:latin typeface="Calibri" pitchFamily="34" charset="0"/>
                <a:ea typeface="Calibri" pitchFamily="34" charset="-122"/>
                <a:cs typeface="Calibri" pitchFamily="34" charset="-120"/>
              </a:rPr>
              <a:t>Настоящий интерферометр — сложная установка, в учебной лаборатории её мало. Поэтому мы сделали модель.</a:t>
            </a:r>
            <a:endParaRPr lang="en-US" sz="1400" dirty="0"/>
          </a:p>
        </p:txBody>
      </p:sp>
      <p:sp>
        <p:nvSpPr>
          <p:cNvPr id="18" name="Text 16"/>
          <p:cNvSpPr txBox="1"/>
          <p:nvPr/>
        </p:nvSpPr>
        <p:spPr>
          <a:xfrm>
            <a:off x="457200" y="4800600"/>
            <a:ext cx="6400800" cy="228600"/>
          </a:xfrm>
          <a:prstGeom prst="rect">
            <a:avLst/>
          </a:prstGeom>
          <a:noFill/>
          <a:ln/>
        </p:spPr>
        <p:txBody>
          <a:bodyPr wrap="square" lIns="0" tIns="0" rIns="0" bIns="0" rtlCol="0" anchor="ctr"/>
          <a:lstStyle/>
          <a:p>
            <a:pPr indent="0" marL="0">
              <a:buNone/>
            </a:pPr>
            <a:r>
              <a:rPr lang="en-US" sz="1000" dirty="0">
                <a:solidFill>
                  <a:srgbClr val="5B6678"/>
                </a:solidFill>
                <a:latin typeface="Calibri" pitchFamily="34" charset="0"/>
                <a:ea typeface="Calibri" pitchFamily="34" charset="-122"/>
                <a:cs typeface="Calibri" pitchFamily="34" charset="-120"/>
              </a:rPr>
              <a:t>Интерферометр Фабри — Перо · проект СЭЛФ, МГТУ им. Н. Э. Баумана</a:t>
            </a:r>
            <a:endParaRPr lang="en-US" sz="1000" dirty="0"/>
          </a:p>
        </p:txBody>
      </p:sp>
      <p:sp>
        <p:nvSpPr>
          <p:cNvPr id="19" name="Text 17"/>
          <p:cNvSpPr txBox="1"/>
          <p:nvPr/>
        </p:nvSpPr>
        <p:spPr>
          <a:xfrm>
            <a:off x="8229600" y="4800600"/>
            <a:ext cx="457200" cy="228600"/>
          </a:xfrm>
          <a:prstGeom prst="rect">
            <a:avLst/>
          </a:prstGeom>
          <a:noFill/>
          <a:ln/>
        </p:spPr>
        <p:txBody>
          <a:bodyPr wrap="square" lIns="0" tIns="0" rIns="0" bIns="0" rtlCol="0" anchor="ctr"/>
          <a:lstStyle/>
          <a:p>
            <a:pPr algn="r" indent="0" marL="0">
              <a:buNone/>
            </a:pPr>
            <a:r>
              <a:rPr lang="en-US" sz="1000" dirty="0">
                <a:solidFill>
                  <a:srgbClr val="5B6678"/>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t"/>
          <a:lstStyle/>
          <a:p>
            <a:pPr indent="0" marL="0">
              <a:buNone/>
            </a:pPr>
            <a:r>
              <a:rPr lang="en-US" sz="3000" b="1" dirty="0">
                <a:solidFill>
                  <a:srgbClr val="1B2437"/>
                </a:solidFill>
                <a:latin typeface="Cambria" pitchFamily="34" charset="0"/>
                <a:ea typeface="Cambria" pitchFamily="34" charset="-122"/>
                <a:cs typeface="Cambria" pitchFamily="34" charset="-120"/>
              </a:rPr>
              <a:t>Вывод формулы Эйри</a:t>
            </a:r>
            <a:endParaRPr lang="en-US" sz="3000" dirty="0"/>
          </a:p>
        </p:txBody>
      </p:sp>
      <p:sp>
        <p:nvSpPr>
          <p:cNvPr id="3" name="Shape 1"/>
          <p:cNvSpPr/>
          <p:nvPr/>
        </p:nvSpPr>
        <p:spPr>
          <a:xfrm>
            <a:off x="457200" y="1143000"/>
            <a:ext cx="457200" cy="457200"/>
          </a:xfrm>
          <a:prstGeom prst="ellipse">
            <a:avLst/>
          </a:prstGeom>
          <a:solidFill>
            <a:srgbClr val="22C7B0"/>
          </a:solidFill>
          <a:ln w="12700">
            <a:solidFill>
              <a:srgbClr val="22C7B0"/>
            </a:solidFill>
            <a:prstDash val="solid"/>
          </a:ln>
        </p:spPr>
      </p:sp>
      <p:sp>
        <p:nvSpPr>
          <p:cNvPr id="4" name="Text 2"/>
          <p:cNvSpPr txBox="1"/>
          <p:nvPr/>
        </p:nvSpPr>
        <p:spPr>
          <a:xfrm>
            <a:off x="457200" y="1143000"/>
            <a:ext cx="457200" cy="457200"/>
          </a:xfrm>
          <a:prstGeom prst="rect">
            <a:avLst/>
          </a:prstGeom>
          <a:noFill/>
          <a:ln/>
        </p:spPr>
        <p:txBody>
          <a:bodyPr wrap="square" lIns="0" tIns="0" rIns="0" bIns="0" rtlCol="0" anchor="ctr"/>
          <a:lstStyle/>
          <a:p>
            <a:pPr algn="ctr" indent="0" marL="0">
              <a:buNone/>
            </a:pPr>
            <a:r>
              <a:rPr lang="en-US" sz="1800" b="1" dirty="0">
                <a:solidFill>
                  <a:srgbClr val="0B1220"/>
                </a:solidFill>
                <a:latin typeface="Cambria" pitchFamily="34" charset="0"/>
                <a:ea typeface="Cambria" pitchFamily="34" charset="-122"/>
                <a:cs typeface="Cambria" pitchFamily="34" charset="-120"/>
              </a:rPr>
              <a:t>1</a:t>
            </a:r>
            <a:endParaRPr lang="en-US" sz="1800" dirty="0"/>
          </a:p>
        </p:txBody>
      </p:sp>
      <p:sp>
        <p:nvSpPr>
          <p:cNvPr id="5" name="Text 3"/>
          <p:cNvSpPr txBox="1"/>
          <p:nvPr/>
        </p:nvSpPr>
        <p:spPr>
          <a:xfrm>
            <a:off x="1097280" y="1097280"/>
            <a:ext cx="3383280" cy="274320"/>
          </a:xfrm>
          <a:prstGeom prst="rect">
            <a:avLst/>
          </a:prstGeom>
          <a:noFill/>
          <a:ln/>
        </p:spPr>
        <p:txBody>
          <a:bodyPr wrap="square" lIns="0" tIns="0" rIns="0" bIns="0" rtlCol="0" anchor="ctr"/>
          <a:lstStyle/>
          <a:p>
            <a:pPr indent="0" marL="0">
              <a:buNone/>
            </a:pPr>
            <a:r>
              <a:rPr lang="en-US" sz="1600" b="1" dirty="0">
                <a:solidFill>
                  <a:srgbClr val="1B2437"/>
                </a:solidFill>
                <a:latin typeface="Cambria" pitchFamily="34" charset="0"/>
                <a:ea typeface="Cambria" pitchFamily="34" charset="-122"/>
                <a:cs typeface="Cambria" pitchFamily="34" charset="-120"/>
              </a:rPr>
              <a:t>Лучи</a:t>
            </a:r>
            <a:endParaRPr lang="en-US" sz="1600" dirty="0"/>
          </a:p>
        </p:txBody>
      </p:sp>
      <p:sp>
        <p:nvSpPr>
          <p:cNvPr id="6" name="Text 4"/>
          <p:cNvSpPr txBox="1"/>
          <p:nvPr/>
        </p:nvSpPr>
        <p:spPr>
          <a:xfrm>
            <a:off x="1097280" y="1389888"/>
            <a:ext cx="3383280" cy="640080"/>
          </a:xfrm>
          <a:prstGeom prst="rect">
            <a:avLst/>
          </a:prstGeom>
          <a:noFill/>
          <a:ln/>
        </p:spPr>
        <p:txBody>
          <a:bodyPr wrap="square" lIns="0" tIns="0" rIns="0" bIns="0" rtlCol="0" anchor="t"/>
          <a:lstStyle/>
          <a:p>
            <a:pPr indent="0" marL="0">
              <a:buNone/>
            </a:pPr>
            <a:r>
              <a:rPr lang="en-US" sz="1300" dirty="0">
                <a:solidFill>
                  <a:srgbClr val="5B6678"/>
                </a:solidFill>
                <a:latin typeface="Calibri" pitchFamily="34" charset="0"/>
                <a:ea typeface="Calibri" pitchFamily="34" charset="-122"/>
                <a:cs typeface="Calibri" pitchFamily="34" charset="-120"/>
              </a:rPr>
              <a:t>Каждое отражение умножает амплитуду на r = √R, а соседние лучи сдвинуты по фазе на δ = 4πnd·cosθ/λ.</a:t>
            </a:r>
            <a:endParaRPr lang="en-US" sz="1300" dirty="0"/>
          </a:p>
        </p:txBody>
      </p:sp>
      <p:sp>
        <p:nvSpPr>
          <p:cNvPr id="7" name="Shape 5"/>
          <p:cNvSpPr/>
          <p:nvPr/>
        </p:nvSpPr>
        <p:spPr>
          <a:xfrm>
            <a:off x="457200" y="2148840"/>
            <a:ext cx="457200" cy="457200"/>
          </a:xfrm>
          <a:prstGeom prst="ellipse">
            <a:avLst/>
          </a:prstGeom>
          <a:solidFill>
            <a:srgbClr val="22C7B0"/>
          </a:solidFill>
          <a:ln w="12700">
            <a:solidFill>
              <a:srgbClr val="22C7B0"/>
            </a:solidFill>
            <a:prstDash val="solid"/>
          </a:ln>
        </p:spPr>
      </p:sp>
      <p:sp>
        <p:nvSpPr>
          <p:cNvPr id="8" name="Text 6"/>
          <p:cNvSpPr txBox="1"/>
          <p:nvPr/>
        </p:nvSpPr>
        <p:spPr>
          <a:xfrm>
            <a:off x="457200" y="2148840"/>
            <a:ext cx="457200" cy="457200"/>
          </a:xfrm>
          <a:prstGeom prst="rect">
            <a:avLst/>
          </a:prstGeom>
          <a:noFill/>
          <a:ln/>
        </p:spPr>
        <p:txBody>
          <a:bodyPr wrap="square" lIns="0" tIns="0" rIns="0" bIns="0" rtlCol="0" anchor="ctr"/>
          <a:lstStyle/>
          <a:p>
            <a:pPr algn="ctr" indent="0" marL="0">
              <a:buNone/>
            </a:pPr>
            <a:r>
              <a:rPr lang="en-US" sz="1800" b="1" dirty="0">
                <a:solidFill>
                  <a:srgbClr val="0B1220"/>
                </a:solidFill>
                <a:latin typeface="Cambria" pitchFamily="34" charset="0"/>
                <a:ea typeface="Cambria" pitchFamily="34" charset="-122"/>
                <a:cs typeface="Cambria" pitchFamily="34" charset="-120"/>
              </a:rPr>
              <a:t>2</a:t>
            </a:r>
            <a:endParaRPr lang="en-US" sz="1800" dirty="0"/>
          </a:p>
        </p:txBody>
      </p:sp>
      <p:sp>
        <p:nvSpPr>
          <p:cNvPr id="9" name="Text 7"/>
          <p:cNvSpPr txBox="1"/>
          <p:nvPr/>
        </p:nvSpPr>
        <p:spPr>
          <a:xfrm>
            <a:off x="1097280" y="2103120"/>
            <a:ext cx="3383280" cy="274320"/>
          </a:xfrm>
          <a:prstGeom prst="rect">
            <a:avLst/>
          </a:prstGeom>
          <a:noFill/>
          <a:ln/>
        </p:spPr>
        <p:txBody>
          <a:bodyPr wrap="square" lIns="0" tIns="0" rIns="0" bIns="0" rtlCol="0" anchor="ctr"/>
          <a:lstStyle/>
          <a:p>
            <a:pPr indent="0" marL="0">
              <a:buNone/>
            </a:pPr>
            <a:r>
              <a:rPr lang="en-US" sz="1600" b="1" dirty="0">
                <a:solidFill>
                  <a:srgbClr val="1B2437"/>
                </a:solidFill>
                <a:latin typeface="Cambria" pitchFamily="34" charset="0"/>
                <a:ea typeface="Cambria" pitchFamily="34" charset="-122"/>
                <a:cs typeface="Cambria" pitchFamily="34" charset="-120"/>
              </a:rPr>
              <a:t>Сумма</a:t>
            </a:r>
            <a:endParaRPr lang="en-US" sz="1600" dirty="0"/>
          </a:p>
        </p:txBody>
      </p:sp>
      <p:sp>
        <p:nvSpPr>
          <p:cNvPr id="10" name="Text 8"/>
          <p:cNvSpPr txBox="1"/>
          <p:nvPr/>
        </p:nvSpPr>
        <p:spPr>
          <a:xfrm>
            <a:off x="1097280" y="2395728"/>
            <a:ext cx="3383280" cy="640080"/>
          </a:xfrm>
          <a:prstGeom prst="rect">
            <a:avLst/>
          </a:prstGeom>
          <a:noFill/>
          <a:ln/>
        </p:spPr>
        <p:txBody>
          <a:bodyPr wrap="square" lIns="0" tIns="0" rIns="0" bIns="0" rtlCol="0" anchor="t"/>
          <a:lstStyle/>
          <a:p>
            <a:pPr indent="0" marL="0">
              <a:buNone/>
            </a:pPr>
            <a:r>
              <a:rPr lang="en-US" sz="1300" dirty="0">
                <a:solidFill>
                  <a:srgbClr val="5B6678"/>
                </a:solidFill>
                <a:latin typeface="Calibri" pitchFamily="34" charset="0"/>
                <a:ea typeface="Calibri" pitchFamily="34" charset="-122"/>
                <a:cs typeface="Calibri" pitchFamily="34" charset="-120"/>
              </a:rPr>
              <a:t>Бесконечная геометрическая прогрессия: E = t²·Σ(r²e^{iδ})^k = t² / (1 − R·e^{iδ}).</a:t>
            </a:r>
            <a:endParaRPr lang="en-US" sz="1300" dirty="0"/>
          </a:p>
        </p:txBody>
      </p:sp>
      <p:sp>
        <p:nvSpPr>
          <p:cNvPr id="11" name="Shape 9"/>
          <p:cNvSpPr/>
          <p:nvPr/>
        </p:nvSpPr>
        <p:spPr>
          <a:xfrm>
            <a:off x="457200" y="3154680"/>
            <a:ext cx="457200" cy="457200"/>
          </a:xfrm>
          <a:prstGeom prst="ellipse">
            <a:avLst/>
          </a:prstGeom>
          <a:solidFill>
            <a:srgbClr val="22C7B0"/>
          </a:solidFill>
          <a:ln w="12700">
            <a:solidFill>
              <a:srgbClr val="22C7B0"/>
            </a:solidFill>
            <a:prstDash val="solid"/>
          </a:ln>
        </p:spPr>
      </p:sp>
      <p:sp>
        <p:nvSpPr>
          <p:cNvPr id="12" name="Text 10"/>
          <p:cNvSpPr txBox="1"/>
          <p:nvPr/>
        </p:nvSpPr>
        <p:spPr>
          <a:xfrm>
            <a:off x="457200" y="3154680"/>
            <a:ext cx="457200" cy="457200"/>
          </a:xfrm>
          <a:prstGeom prst="rect">
            <a:avLst/>
          </a:prstGeom>
          <a:noFill/>
          <a:ln/>
        </p:spPr>
        <p:txBody>
          <a:bodyPr wrap="square" lIns="0" tIns="0" rIns="0" bIns="0" rtlCol="0" anchor="ctr"/>
          <a:lstStyle/>
          <a:p>
            <a:pPr algn="ctr" indent="0" marL="0">
              <a:buNone/>
            </a:pPr>
            <a:r>
              <a:rPr lang="en-US" sz="1800" b="1" dirty="0">
                <a:solidFill>
                  <a:srgbClr val="0B1220"/>
                </a:solidFill>
                <a:latin typeface="Cambria" pitchFamily="34" charset="0"/>
                <a:ea typeface="Cambria" pitchFamily="34" charset="-122"/>
                <a:cs typeface="Cambria" pitchFamily="34" charset="-120"/>
              </a:rPr>
              <a:t>3</a:t>
            </a:r>
            <a:endParaRPr lang="en-US" sz="1800" dirty="0"/>
          </a:p>
        </p:txBody>
      </p:sp>
      <p:sp>
        <p:nvSpPr>
          <p:cNvPr id="13" name="Text 11"/>
          <p:cNvSpPr txBox="1"/>
          <p:nvPr/>
        </p:nvSpPr>
        <p:spPr>
          <a:xfrm>
            <a:off x="1097280" y="3108960"/>
            <a:ext cx="3383280" cy="274320"/>
          </a:xfrm>
          <a:prstGeom prst="rect">
            <a:avLst/>
          </a:prstGeom>
          <a:noFill/>
          <a:ln/>
        </p:spPr>
        <p:txBody>
          <a:bodyPr wrap="square" lIns="0" tIns="0" rIns="0" bIns="0" rtlCol="0" anchor="ctr"/>
          <a:lstStyle/>
          <a:p>
            <a:pPr indent="0" marL="0">
              <a:buNone/>
            </a:pPr>
            <a:r>
              <a:rPr lang="en-US" sz="1600" b="1" dirty="0">
                <a:solidFill>
                  <a:srgbClr val="1B2437"/>
                </a:solidFill>
                <a:latin typeface="Cambria" pitchFamily="34" charset="0"/>
                <a:ea typeface="Cambria" pitchFamily="34" charset="-122"/>
                <a:cs typeface="Cambria" pitchFamily="34" charset="-120"/>
              </a:rPr>
              <a:t>Интенсивность</a:t>
            </a:r>
            <a:endParaRPr lang="en-US" sz="1600" dirty="0"/>
          </a:p>
        </p:txBody>
      </p:sp>
      <p:sp>
        <p:nvSpPr>
          <p:cNvPr id="14" name="Text 12"/>
          <p:cNvSpPr txBox="1"/>
          <p:nvPr/>
        </p:nvSpPr>
        <p:spPr>
          <a:xfrm>
            <a:off x="1097280" y="3401568"/>
            <a:ext cx="3383280" cy="640080"/>
          </a:xfrm>
          <a:prstGeom prst="rect">
            <a:avLst/>
          </a:prstGeom>
          <a:noFill/>
          <a:ln/>
        </p:spPr>
        <p:txBody>
          <a:bodyPr wrap="square" lIns="0" tIns="0" rIns="0" bIns="0" rtlCol="0" anchor="t"/>
          <a:lstStyle/>
          <a:p>
            <a:pPr indent="0" marL="0">
              <a:buNone/>
            </a:pPr>
            <a:r>
              <a:rPr lang="en-US" sz="1300" dirty="0">
                <a:solidFill>
                  <a:srgbClr val="5B6678"/>
                </a:solidFill>
                <a:latin typeface="Calibri" pitchFamily="34" charset="0"/>
                <a:ea typeface="Calibri" pitchFamily="34" charset="-122"/>
                <a:cs typeface="Calibri" pitchFamily="34" charset="-120"/>
              </a:rPr>
              <a:t>T = |E|² даёт формулу Эйри; F = 4R/(1 − R)² — коэффициент резкости.</a:t>
            </a:r>
            <a:endParaRPr lang="en-US" sz="1300" dirty="0"/>
          </a:p>
        </p:txBody>
      </p:sp>
      <p:sp>
        <p:nvSpPr>
          <p:cNvPr id="15" name="Text 13"/>
          <p:cNvSpPr txBox="1"/>
          <p:nvPr/>
        </p:nvSpPr>
        <p:spPr>
          <a:xfrm>
            <a:off x="4754880" y="1097280"/>
            <a:ext cx="3931920" cy="457200"/>
          </a:xfrm>
          <a:prstGeom prst="rect">
            <a:avLst/>
          </a:prstGeom>
          <a:noFill/>
          <a:ln/>
        </p:spPr>
        <p:txBody>
          <a:bodyPr wrap="square" lIns="0" tIns="0" rIns="0" bIns="0" rtlCol="0" anchor="ctr"/>
          <a:lstStyle/>
          <a:p>
            <a:pPr indent="0" marL="0">
              <a:buNone/>
            </a:pPr>
            <a:r>
              <a:rPr lang="en-US" sz="2200" b="1" i="1" dirty="0">
                <a:solidFill>
                  <a:srgbClr val="1B2437"/>
                </a:solidFill>
                <a:latin typeface="Cambria" pitchFamily="34" charset="0"/>
                <a:ea typeface="Cambria" pitchFamily="34" charset="-122"/>
                <a:cs typeface="Cambria" pitchFamily="34" charset="-120"/>
              </a:rPr>
              <a:t>T = Tmax / (1 + F·sin²(δ/2))</a:t>
            </a:r>
            <a:endParaRPr lang="en-US" sz="2200" dirty="0"/>
          </a:p>
        </p:txBody>
      </p:sp>
      <p:pic>
        <p:nvPicPr>
          <p:cNvPr id="16" name="Image 0" descr="/tmp/claude-0/-home-user-fabry-pertotq/da6804cf-1b2d-5442-843e-f7000ad32be1/scratchpad/deck/graph.png">    </p:cNvPr>
          <p:cNvPicPr>
            <a:picLocks noChangeAspect="1"/>
          </p:cNvPicPr>
          <p:nvPr/>
        </p:nvPicPr>
        <p:blipFill>
          <a:blip r:embed="rId1"/>
          <a:stretch>
            <a:fillRect/>
          </a:stretch>
        </p:blipFill>
        <p:spPr>
          <a:xfrm>
            <a:off x="4754880" y="1737360"/>
            <a:ext cx="3931920" cy="1792224"/>
          </a:xfrm>
          <a:prstGeom prst="rect">
            <a:avLst/>
          </a:prstGeom>
        </p:spPr>
      </p:pic>
      <p:sp>
        <p:nvSpPr>
          <p:cNvPr id="17" name="Text 14"/>
          <p:cNvSpPr txBox="1"/>
          <p:nvPr/>
        </p:nvSpPr>
        <p:spPr>
          <a:xfrm>
            <a:off x="4754880" y="3611880"/>
            <a:ext cx="3931920" cy="548640"/>
          </a:xfrm>
          <a:prstGeom prst="rect">
            <a:avLst/>
          </a:prstGeom>
          <a:noFill/>
          <a:ln/>
        </p:spPr>
        <p:txBody>
          <a:bodyPr wrap="square" lIns="0" tIns="0" rIns="0" bIns="0" rtlCol="0" anchor="t"/>
          <a:lstStyle/>
          <a:p>
            <a:pPr indent="0" marL="0">
              <a:buNone/>
            </a:pPr>
            <a:r>
              <a:rPr lang="en-US" sz="1100" dirty="0">
                <a:solidFill>
                  <a:srgbClr val="5B6678"/>
                </a:solidFill>
                <a:latin typeface="Calibri" pitchFamily="34" charset="0"/>
                <a:ea typeface="Calibri" pitchFamily="34" charset="-122"/>
                <a:cs typeface="Calibri" pitchFamily="34" charset="-120"/>
              </a:rPr>
              <a:t>Максимумы — при δ = 2πm, то есть 2nd·cosθ = mλ. He-Ne лазер 632,8 нм, зазор 5 мм, R = 0,9</a:t>
            </a:r>
            <a:endParaRPr lang="en-US" sz="1100" dirty="0"/>
          </a:p>
        </p:txBody>
      </p:sp>
      <p:sp>
        <p:nvSpPr>
          <p:cNvPr id="18" name="Text 15"/>
          <p:cNvSpPr txBox="1"/>
          <p:nvPr/>
        </p:nvSpPr>
        <p:spPr>
          <a:xfrm>
            <a:off x="457200" y="4800600"/>
            <a:ext cx="6400800" cy="228600"/>
          </a:xfrm>
          <a:prstGeom prst="rect">
            <a:avLst/>
          </a:prstGeom>
          <a:noFill/>
          <a:ln/>
        </p:spPr>
        <p:txBody>
          <a:bodyPr wrap="square" lIns="0" tIns="0" rIns="0" bIns="0" rtlCol="0" anchor="ctr"/>
          <a:lstStyle/>
          <a:p>
            <a:pPr indent="0" marL="0">
              <a:buNone/>
            </a:pPr>
            <a:r>
              <a:rPr lang="en-US" sz="1000" dirty="0">
                <a:solidFill>
                  <a:srgbClr val="5B6678"/>
                </a:solidFill>
                <a:latin typeface="Calibri" pitchFamily="34" charset="0"/>
                <a:ea typeface="Calibri" pitchFamily="34" charset="-122"/>
                <a:cs typeface="Calibri" pitchFamily="34" charset="-120"/>
              </a:rPr>
              <a:t>Интерферометр Фабри — Перо · проект СЭЛФ, МГТУ им. Н. Э. Баумана</a:t>
            </a:r>
            <a:endParaRPr lang="en-US" sz="1000" dirty="0"/>
          </a:p>
        </p:txBody>
      </p:sp>
      <p:sp>
        <p:nvSpPr>
          <p:cNvPr id="19" name="Text 16"/>
          <p:cNvSpPr txBox="1"/>
          <p:nvPr/>
        </p:nvSpPr>
        <p:spPr>
          <a:xfrm>
            <a:off x="8229600" y="4800600"/>
            <a:ext cx="457200" cy="228600"/>
          </a:xfrm>
          <a:prstGeom prst="rect">
            <a:avLst/>
          </a:prstGeom>
          <a:noFill/>
          <a:ln/>
        </p:spPr>
        <p:txBody>
          <a:bodyPr wrap="square" lIns="0" tIns="0" rIns="0" bIns="0" rtlCol="0" anchor="ctr"/>
          <a:lstStyle/>
          <a:p>
            <a:pPr algn="r" indent="0" marL="0">
              <a:buNone/>
            </a:pPr>
            <a:r>
              <a:rPr lang="en-US" sz="1000" dirty="0">
                <a:solidFill>
                  <a:srgbClr val="5B6678"/>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t"/>
          <a:lstStyle/>
          <a:p>
            <a:pPr indent="0" marL="0">
              <a:buNone/>
            </a:pPr>
            <a:r>
              <a:rPr lang="en-US" sz="3000" b="1" dirty="0">
                <a:solidFill>
                  <a:srgbClr val="1B2437"/>
                </a:solidFill>
                <a:latin typeface="Cambria" pitchFamily="34" charset="0"/>
                <a:ea typeface="Cambria" pitchFamily="34" charset="-122"/>
                <a:cs typeface="Cambria" pitchFamily="34" charset="-120"/>
              </a:rPr>
              <a:t>Что даёт формула</a:t>
            </a:r>
            <a:endParaRPr lang="en-US" sz="3000" dirty="0"/>
          </a:p>
        </p:txBody>
      </p:sp>
      <p:sp>
        <p:nvSpPr>
          <p:cNvPr id="3" name="Shape 1"/>
          <p:cNvSpPr/>
          <p:nvPr/>
        </p:nvSpPr>
        <p:spPr>
          <a:xfrm>
            <a:off x="457200" y="1143000"/>
            <a:ext cx="3931920" cy="1508760"/>
          </a:xfrm>
          <a:prstGeom prst="roundRect">
            <a:avLst>
              <a:gd name="adj" fmla="val 7273"/>
            </a:avLst>
          </a:prstGeom>
          <a:solidFill>
            <a:srgbClr val="EEF3F8"/>
          </a:solidFill>
          <a:ln w="12700">
            <a:solidFill>
              <a:srgbClr val="EEF3F8"/>
            </a:solidFill>
            <a:prstDash val="solid"/>
          </a:ln>
        </p:spPr>
      </p:sp>
      <p:sp>
        <p:nvSpPr>
          <p:cNvPr id="4" name="Text 2"/>
          <p:cNvSpPr txBox="1"/>
          <p:nvPr/>
        </p:nvSpPr>
        <p:spPr>
          <a:xfrm>
            <a:off x="731520" y="1280160"/>
            <a:ext cx="3383280" cy="320040"/>
          </a:xfrm>
          <a:prstGeom prst="rect">
            <a:avLst/>
          </a:prstGeom>
          <a:noFill/>
          <a:ln/>
        </p:spPr>
        <p:txBody>
          <a:bodyPr wrap="square" lIns="0" tIns="0" rIns="0" bIns="0" rtlCol="0" anchor="ctr"/>
          <a:lstStyle/>
          <a:p>
            <a:pPr indent="0" marL="0">
              <a:buNone/>
            </a:pPr>
            <a:r>
              <a:rPr lang="en-US" sz="1600" b="1" i="1" dirty="0">
                <a:solidFill>
                  <a:srgbClr val="0F8F7E"/>
                </a:solidFill>
                <a:latin typeface="Cambria" pitchFamily="34" charset="0"/>
                <a:ea typeface="Cambria" pitchFamily="34" charset="-122"/>
                <a:cs typeface="Cambria" pitchFamily="34" charset="-120"/>
              </a:rPr>
              <a:t>λ² / (2nd)</a:t>
            </a:r>
            <a:endParaRPr lang="en-US" sz="1600" dirty="0"/>
          </a:p>
        </p:txBody>
      </p:sp>
      <p:sp>
        <p:nvSpPr>
          <p:cNvPr id="5" name="Text 3"/>
          <p:cNvSpPr txBox="1"/>
          <p:nvPr/>
        </p:nvSpPr>
        <p:spPr>
          <a:xfrm>
            <a:off x="731520" y="1600200"/>
            <a:ext cx="3383280" cy="548640"/>
          </a:xfrm>
          <a:prstGeom prst="rect">
            <a:avLst/>
          </a:prstGeom>
          <a:noFill/>
          <a:ln/>
        </p:spPr>
        <p:txBody>
          <a:bodyPr wrap="square" lIns="0" tIns="0" rIns="0" bIns="0" rtlCol="0" anchor="ctr"/>
          <a:lstStyle/>
          <a:p>
            <a:pPr indent="0" marL="0">
              <a:buNone/>
            </a:pPr>
            <a:r>
              <a:rPr lang="en-US" sz="3200" b="1" dirty="0">
                <a:solidFill>
                  <a:srgbClr val="1B2437"/>
                </a:solidFill>
                <a:latin typeface="Cambria" pitchFamily="34" charset="0"/>
                <a:ea typeface="Cambria" pitchFamily="34" charset="-122"/>
                <a:cs typeface="Cambria" pitchFamily="34" charset="-120"/>
              </a:rPr>
              <a:t>40,04 пм</a:t>
            </a:r>
            <a:endParaRPr lang="en-US" sz="3200" dirty="0"/>
          </a:p>
        </p:txBody>
      </p:sp>
      <p:sp>
        <p:nvSpPr>
          <p:cNvPr id="6" name="Text 4"/>
          <p:cNvSpPr txBox="1"/>
          <p:nvPr/>
        </p:nvSpPr>
        <p:spPr>
          <a:xfrm>
            <a:off x="731520" y="2167128"/>
            <a:ext cx="3383280" cy="411480"/>
          </a:xfrm>
          <a:prstGeom prst="rect">
            <a:avLst/>
          </a:prstGeom>
          <a:noFill/>
          <a:ln/>
        </p:spPr>
        <p:txBody>
          <a:bodyPr wrap="square" lIns="0" tIns="0" rIns="0" bIns="0" rtlCol="0" anchor="t"/>
          <a:lstStyle/>
          <a:p>
            <a:pPr indent="0" marL="0">
              <a:buNone/>
            </a:pPr>
            <a:r>
              <a:rPr lang="en-US" sz="1200" dirty="0">
                <a:solidFill>
                  <a:srgbClr val="5B6678"/>
                </a:solidFill>
                <a:latin typeface="Calibri" pitchFamily="34" charset="0"/>
                <a:ea typeface="Calibri" pitchFamily="34" charset="-122"/>
                <a:cs typeface="Calibri" pitchFamily="34" charset="-120"/>
              </a:rPr>
              <a:t>область свободной дисперсии: расстояние между пиками</a:t>
            </a:r>
            <a:endParaRPr lang="en-US" sz="1200" dirty="0"/>
          </a:p>
        </p:txBody>
      </p:sp>
      <p:sp>
        <p:nvSpPr>
          <p:cNvPr id="7" name="Shape 5"/>
          <p:cNvSpPr/>
          <p:nvPr/>
        </p:nvSpPr>
        <p:spPr>
          <a:xfrm>
            <a:off x="4617720" y="1143000"/>
            <a:ext cx="3931920" cy="1508760"/>
          </a:xfrm>
          <a:prstGeom prst="roundRect">
            <a:avLst>
              <a:gd name="adj" fmla="val 7273"/>
            </a:avLst>
          </a:prstGeom>
          <a:solidFill>
            <a:srgbClr val="EEF3F8"/>
          </a:solidFill>
          <a:ln w="12700">
            <a:solidFill>
              <a:srgbClr val="EEF3F8"/>
            </a:solidFill>
            <a:prstDash val="solid"/>
          </a:ln>
        </p:spPr>
      </p:sp>
      <p:sp>
        <p:nvSpPr>
          <p:cNvPr id="8" name="Text 6"/>
          <p:cNvSpPr txBox="1"/>
          <p:nvPr/>
        </p:nvSpPr>
        <p:spPr>
          <a:xfrm>
            <a:off x="4892040" y="1280160"/>
            <a:ext cx="3383280" cy="320040"/>
          </a:xfrm>
          <a:prstGeom prst="rect">
            <a:avLst/>
          </a:prstGeom>
          <a:noFill/>
          <a:ln/>
        </p:spPr>
        <p:txBody>
          <a:bodyPr wrap="square" lIns="0" tIns="0" rIns="0" bIns="0" rtlCol="0" anchor="ctr"/>
          <a:lstStyle/>
          <a:p>
            <a:pPr indent="0" marL="0">
              <a:buNone/>
            </a:pPr>
            <a:r>
              <a:rPr lang="en-US" sz="1600" b="1" i="1" dirty="0">
                <a:solidFill>
                  <a:srgbClr val="0F8F7E"/>
                </a:solidFill>
                <a:latin typeface="Cambria" pitchFamily="34" charset="0"/>
                <a:ea typeface="Cambria" pitchFamily="34" charset="-122"/>
                <a:cs typeface="Cambria" pitchFamily="34" charset="-120"/>
              </a:rPr>
              <a:t>Δλ / 𝓕</a:t>
            </a:r>
            <a:endParaRPr lang="en-US" sz="1600" dirty="0"/>
          </a:p>
        </p:txBody>
      </p:sp>
      <p:sp>
        <p:nvSpPr>
          <p:cNvPr id="9" name="Text 7"/>
          <p:cNvSpPr txBox="1"/>
          <p:nvPr/>
        </p:nvSpPr>
        <p:spPr>
          <a:xfrm>
            <a:off x="4892040" y="1600200"/>
            <a:ext cx="3383280" cy="548640"/>
          </a:xfrm>
          <a:prstGeom prst="rect">
            <a:avLst/>
          </a:prstGeom>
          <a:noFill/>
          <a:ln/>
        </p:spPr>
        <p:txBody>
          <a:bodyPr wrap="square" lIns="0" tIns="0" rIns="0" bIns="0" rtlCol="0" anchor="ctr"/>
          <a:lstStyle/>
          <a:p>
            <a:pPr indent="0" marL="0">
              <a:buNone/>
            </a:pPr>
            <a:r>
              <a:rPr lang="en-US" sz="3200" b="1" dirty="0">
                <a:solidFill>
                  <a:srgbClr val="1B2437"/>
                </a:solidFill>
                <a:latin typeface="Cambria" pitchFamily="34" charset="0"/>
                <a:ea typeface="Cambria" pitchFamily="34" charset="-122"/>
                <a:cs typeface="Cambria" pitchFamily="34" charset="-120"/>
              </a:rPr>
              <a:t>1,344 пм</a:t>
            </a:r>
            <a:endParaRPr lang="en-US" sz="3200" dirty="0"/>
          </a:p>
        </p:txBody>
      </p:sp>
      <p:sp>
        <p:nvSpPr>
          <p:cNvPr id="10" name="Text 8"/>
          <p:cNvSpPr txBox="1"/>
          <p:nvPr/>
        </p:nvSpPr>
        <p:spPr>
          <a:xfrm>
            <a:off x="4892040" y="2167128"/>
            <a:ext cx="3383280" cy="411480"/>
          </a:xfrm>
          <a:prstGeom prst="rect">
            <a:avLst/>
          </a:prstGeom>
          <a:noFill/>
          <a:ln/>
        </p:spPr>
        <p:txBody>
          <a:bodyPr wrap="square" lIns="0" tIns="0" rIns="0" bIns="0" rtlCol="0" anchor="t"/>
          <a:lstStyle/>
          <a:p>
            <a:pPr indent="0" marL="0">
              <a:buNone/>
            </a:pPr>
            <a:r>
              <a:rPr lang="en-US" sz="1200" dirty="0">
                <a:solidFill>
                  <a:srgbClr val="5B6678"/>
                </a:solidFill>
                <a:latin typeface="Calibri" pitchFamily="34" charset="0"/>
                <a:ea typeface="Calibri" pitchFamily="34" charset="-122"/>
                <a:cs typeface="Calibri" pitchFamily="34" charset="-120"/>
              </a:rPr>
              <a:t>ширина пика, 𝓕 — резкость</a:t>
            </a:r>
            <a:endParaRPr lang="en-US" sz="1200" dirty="0"/>
          </a:p>
        </p:txBody>
      </p:sp>
      <p:sp>
        <p:nvSpPr>
          <p:cNvPr id="11" name="Shape 9"/>
          <p:cNvSpPr/>
          <p:nvPr/>
        </p:nvSpPr>
        <p:spPr>
          <a:xfrm>
            <a:off x="457200" y="2834640"/>
            <a:ext cx="3931920" cy="1508760"/>
          </a:xfrm>
          <a:prstGeom prst="roundRect">
            <a:avLst>
              <a:gd name="adj" fmla="val 7273"/>
            </a:avLst>
          </a:prstGeom>
          <a:solidFill>
            <a:srgbClr val="EEF3F8"/>
          </a:solidFill>
          <a:ln w="12700">
            <a:solidFill>
              <a:srgbClr val="EEF3F8"/>
            </a:solidFill>
            <a:prstDash val="solid"/>
          </a:ln>
        </p:spPr>
      </p:sp>
      <p:sp>
        <p:nvSpPr>
          <p:cNvPr id="12" name="Text 10"/>
          <p:cNvSpPr txBox="1"/>
          <p:nvPr/>
        </p:nvSpPr>
        <p:spPr>
          <a:xfrm>
            <a:off x="731520" y="2971800"/>
            <a:ext cx="3383280" cy="320040"/>
          </a:xfrm>
          <a:prstGeom prst="rect">
            <a:avLst/>
          </a:prstGeom>
          <a:noFill/>
          <a:ln/>
        </p:spPr>
        <p:txBody>
          <a:bodyPr wrap="square" lIns="0" tIns="0" rIns="0" bIns="0" rtlCol="0" anchor="ctr"/>
          <a:lstStyle/>
          <a:p>
            <a:pPr indent="0" marL="0">
              <a:buNone/>
            </a:pPr>
            <a:r>
              <a:rPr lang="en-US" sz="1600" b="1" i="1" dirty="0">
                <a:solidFill>
                  <a:srgbClr val="0F8F7E"/>
                </a:solidFill>
                <a:latin typeface="Cambria" pitchFamily="34" charset="0"/>
                <a:ea typeface="Cambria" pitchFamily="34" charset="-122"/>
                <a:cs typeface="Cambria" pitchFamily="34" charset="-120"/>
              </a:rPr>
              <a:t>π√R / (1 − R)</a:t>
            </a:r>
            <a:endParaRPr lang="en-US" sz="1600" dirty="0"/>
          </a:p>
        </p:txBody>
      </p:sp>
      <p:sp>
        <p:nvSpPr>
          <p:cNvPr id="13" name="Text 11"/>
          <p:cNvSpPr txBox="1"/>
          <p:nvPr/>
        </p:nvSpPr>
        <p:spPr>
          <a:xfrm>
            <a:off x="731520" y="3291840"/>
            <a:ext cx="3383280" cy="548640"/>
          </a:xfrm>
          <a:prstGeom prst="rect">
            <a:avLst/>
          </a:prstGeom>
          <a:noFill/>
          <a:ln/>
        </p:spPr>
        <p:txBody>
          <a:bodyPr wrap="square" lIns="0" tIns="0" rIns="0" bIns="0" rtlCol="0" anchor="ctr"/>
          <a:lstStyle/>
          <a:p>
            <a:pPr indent="0" marL="0">
              <a:buNone/>
            </a:pPr>
            <a:r>
              <a:rPr lang="en-US" sz="3200" b="1" dirty="0">
                <a:solidFill>
                  <a:srgbClr val="1B2437"/>
                </a:solidFill>
                <a:latin typeface="Cambria" pitchFamily="34" charset="0"/>
                <a:ea typeface="Cambria" pitchFamily="34" charset="-122"/>
                <a:cs typeface="Cambria" pitchFamily="34" charset="-120"/>
              </a:rPr>
              <a:t>29,8</a:t>
            </a:r>
            <a:endParaRPr lang="en-US" sz="3200" dirty="0"/>
          </a:p>
        </p:txBody>
      </p:sp>
      <p:sp>
        <p:nvSpPr>
          <p:cNvPr id="14" name="Text 12"/>
          <p:cNvSpPr txBox="1"/>
          <p:nvPr/>
        </p:nvSpPr>
        <p:spPr>
          <a:xfrm>
            <a:off x="731520" y="3858768"/>
            <a:ext cx="3383280" cy="411480"/>
          </a:xfrm>
          <a:prstGeom prst="rect">
            <a:avLst/>
          </a:prstGeom>
          <a:noFill/>
          <a:ln/>
        </p:spPr>
        <p:txBody>
          <a:bodyPr wrap="square" lIns="0" tIns="0" rIns="0" bIns="0" rtlCol="0" anchor="t"/>
          <a:lstStyle/>
          <a:p>
            <a:pPr indent="0" marL="0">
              <a:buNone/>
            </a:pPr>
            <a:r>
              <a:rPr lang="en-US" sz="1200" dirty="0">
                <a:solidFill>
                  <a:srgbClr val="5B6678"/>
                </a:solidFill>
                <a:latin typeface="Calibri" pitchFamily="34" charset="0"/>
                <a:ea typeface="Calibri" pitchFamily="34" charset="-122"/>
                <a:cs typeface="Calibri" pitchFamily="34" charset="-120"/>
              </a:rPr>
              <a:t>резкость: во сколько раз пик уже расстояния между пиками</a:t>
            </a:r>
            <a:endParaRPr lang="en-US" sz="1200" dirty="0"/>
          </a:p>
        </p:txBody>
      </p:sp>
      <p:sp>
        <p:nvSpPr>
          <p:cNvPr id="15" name="Shape 13"/>
          <p:cNvSpPr/>
          <p:nvPr/>
        </p:nvSpPr>
        <p:spPr>
          <a:xfrm>
            <a:off x="4617720" y="2834640"/>
            <a:ext cx="3931920" cy="1508760"/>
          </a:xfrm>
          <a:prstGeom prst="roundRect">
            <a:avLst>
              <a:gd name="adj" fmla="val 7273"/>
            </a:avLst>
          </a:prstGeom>
          <a:solidFill>
            <a:srgbClr val="EEF3F8"/>
          </a:solidFill>
          <a:ln w="12700">
            <a:solidFill>
              <a:srgbClr val="EEF3F8"/>
            </a:solidFill>
            <a:prstDash val="solid"/>
          </a:ln>
        </p:spPr>
      </p:sp>
      <p:sp>
        <p:nvSpPr>
          <p:cNvPr id="16" name="Text 14"/>
          <p:cNvSpPr txBox="1"/>
          <p:nvPr/>
        </p:nvSpPr>
        <p:spPr>
          <a:xfrm>
            <a:off x="4892040" y="2971800"/>
            <a:ext cx="3383280" cy="320040"/>
          </a:xfrm>
          <a:prstGeom prst="rect">
            <a:avLst/>
          </a:prstGeom>
          <a:noFill/>
          <a:ln/>
        </p:spPr>
        <p:txBody>
          <a:bodyPr wrap="square" lIns="0" tIns="0" rIns="0" bIns="0" rtlCol="0" anchor="ctr"/>
          <a:lstStyle/>
          <a:p>
            <a:pPr indent="0" marL="0">
              <a:buNone/>
            </a:pPr>
            <a:r>
              <a:rPr lang="en-US" sz="1600" b="1" i="1" dirty="0">
                <a:solidFill>
                  <a:srgbClr val="0F8F7E"/>
                </a:solidFill>
                <a:latin typeface="Cambria" pitchFamily="34" charset="0"/>
                <a:ea typeface="Cambria" pitchFamily="34" charset="-122"/>
                <a:cs typeface="Cambria" pitchFamily="34" charset="-120"/>
              </a:rPr>
              <a:t>λ / w</a:t>
            </a:r>
            <a:endParaRPr lang="en-US" sz="1600" dirty="0"/>
          </a:p>
        </p:txBody>
      </p:sp>
      <p:sp>
        <p:nvSpPr>
          <p:cNvPr id="17" name="Text 15"/>
          <p:cNvSpPr txBox="1"/>
          <p:nvPr/>
        </p:nvSpPr>
        <p:spPr>
          <a:xfrm>
            <a:off x="4892040" y="3291840"/>
            <a:ext cx="3383280" cy="548640"/>
          </a:xfrm>
          <a:prstGeom prst="rect">
            <a:avLst/>
          </a:prstGeom>
          <a:noFill/>
          <a:ln/>
        </p:spPr>
        <p:txBody>
          <a:bodyPr wrap="square" lIns="0" tIns="0" rIns="0" bIns="0" rtlCol="0" anchor="ctr"/>
          <a:lstStyle/>
          <a:p>
            <a:pPr indent="0" marL="0">
              <a:buNone/>
            </a:pPr>
            <a:r>
              <a:rPr lang="en-US" sz="3200" b="1" dirty="0">
                <a:solidFill>
                  <a:srgbClr val="1B2437"/>
                </a:solidFill>
                <a:latin typeface="Cambria" pitchFamily="34" charset="0"/>
                <a:ea typeface="Cambria" pitchFamily="34" charset="-122"/>
                <a:cs typeface="Cambria" pitchFamily="34" charset="-120"/>
              </a:rPr>
              <a:t>≈ 470 000</a:t>
            </a:r>
            <a:endParaRPr lang="en-US" sz="3200" dirty="0"/>
          </a:p>
        </p:txBody>
      </p:sp>
      <p:sp>
        <p:nvSpPr>
          <p:cNvPr id="18" name="Text 16"/>
          <p:cNvSpPr txBox="1"/>
          <p:nvPr/>
        </p:nvSpPr>
        <p:spPr>
          <a:xfrm>
            <a:off x="4892040" y="3858768"/>
            <a:ext cx="3383280" cy="411480"/>
          </a:xfrm>
          <a:prstGeom prst="rect">
            <a:avLst/>
          </a:prstGeom>
          <a:noFill/>
          <a:ln/>
        </p:spPr>
        <p:txBody>
          <a:bodyPr wrap="square" lIns="0" tIns="0" rIns="0" bIns="0" rtlCol="0" anchor="t"/>
          <a:lstStyle/>
          <a:p>
            <a:pPr indent="0" marL="0">
              <a:buNone/>
            </a:pPr>
            <a:r>
              <a:rPr lang="en-US" sz="1200" dirty="0">
                <a:solidFill>
                  <a:srgbClr val="5B6678"/>
                </a:solidFill>
                <a:latin typeface="Calibri" pitchFamily="34" charset="0"/>
                <a:ea typeface="Calibri" pitchFamily="34" charset="-122"/>
                <a:cs typeface="Calibri" pitchFamily="34" charset="-120"/>
              </a:rPr>
              <a:t>разрешающая способность</a:t>
            </a:r>
            <a:endParaRPr lang="en-US" sz="1200" dirty="0"/>
          </a:p>
        </p:txBody>
      </p:sp>
      <p:sp>
        <p:nvSpPr>
          <p:cNvPr id="19" name="Text 17"/>
          <p:cNvSpPr txBox="1"/>
          <p:nvPr/>
        </p:nvSpPr>
        <p:spPr>
          <a:xfrm>
            <a:off x="457200" y="4389120"/>
            <a:ext cx="8229600" cy="384048"/>
          </a:xfrm>
          <a:prstGeom prst="rect">
            <a:avLst/>
          </a:prstGeom>
          <a:noFill/>
          <a:ln/>
        </p:spPr>
        <p:txBody>
          <a:bodyPr wrap="square" lIns="0" tIns="0" rIns="0" bIns="0" rtlCol="0" anchor="t"/>
          <a:lstStyle/>
          <a:p>
            <a:pPr indent="0" marL="0">
              <a:buNone/>
            </a:pPr>
            <a:r>
              <a:rPr lang="en-US" sz="1100" dirty="0">
                <a:solidFill>
                  <a:srgbClr val="5B6678"/>
                </a:solidFill>
                <a:latin typeface="Calibri" pitchFamily="34" charset="0"/>
                <a:ea typeface="Calibri" pitchFamily="34" charset="-122"/>
                <a:cs typeface="Calibri" pitchFamily="34" charset="-120"/>
              </a:rPr>
              <a:t>Для He-Ne лазера: 632,8 нм, зазор d = 5 мм, отражение R = 0,9. Две линии считаются различимыми, если провал между ними не больше 0,81 максимума: δλmin ≈ 1,03·w</a:t>
            </a:r>
            <a:endParaRPr lang="en-US" sz="1100" dirty="0"/>
          </a:p>
        </p:txBody>
      </p:sp>
      <p:sp>
        <p:nvSpPr>
          <p:cNvPr id="20" name="Text 18"/>
          <p:cNvSpPr txBox="1"/>
          <p:nvPr/>
        </p:nvSpPr>
        <p:spPr>
          <a:xfrm>
            <a:off x="457200" y="4800600"/>
            <a:ext cx="6400800" cy="228600"/>
          </a:xfrm>
          <a:prstGeom prst="rect">
            <a:avLst/>
          </a:prstGeom>
          <a:noFill/>
          <a:ln/>
        </p:spPr>
        <p:txBody>
          <a:bodyPr wrap="square" lIns="0" tIns="0" rIns="0" bIns="0" rtlCol="0" anchor="ctr"/>
          <a:lstStyle/>
          <a:p>
            <a:pPr indent="0" marL="0">
              <a:buNone/>
            </a:pPr>
            <a:r>
              <a:rPr lang="en-US" sz="1000" dirty="0">
                <a:solidFill>
                  <a:srgbClr val="5B6678"/>
                </a:solidFill>
                <a:latin typeface="Calibri" pitchFamily="34" charset="0"/>
                <a:ea typeface="Calibri" pitchFamily="34" charset="-122"/>
                <a:cs typeface="Calibri" pitchFamily="34" charset="-120"/>
              </a:rPr>
              <a:t>Интерферометр Фабри — Перо · проект СЭЛФ, МГТУ им. Н. Э. Баумана</a:t>
            </a:r>
            <a:endParaRPr lang="en-US" sz="1000" dirty="0"/>
          </a:p>
        </p:txBody>
      </p:sp>
      <p:sp>
        <p:nvSpPr>
          <p:cNvPr id="21" name="Text 19"/>
          <p:cNvSpPr txBox="1"/>
          <p:nvPr/>
        </p:nvSpPr>
        <p:spPr>
          <a:xfrm>
            <a:off x="8229600" y="4800600"/>
            <a:ext cx="457200" cy="228600"/>
          </a:xfrm>
          <a:prstGeom prst="rect">
            <a:avLst/>
          </a:prstGeom>
          <a:noFill/>
          <a:ln/>
        </p:spPr>
        <p:txBody>
          <a:bodyPr wrap="square" lIns="0" tIns="0" rIns="0" bIns="0" rtlCol="0" anchor="ctr"/>
          <a:lstStyle/>
          <a:p>
            <a:pPr algn="r" indent="0" marL="0">
              <a:buNone/>
            </a:pPr>
            <a:r>
              <a:rPr lang="en-US" sz="1000" dirty="0">
                <a:solidFill>
                  <a:srgbClr val="5B6678"/>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1220"/>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Кольца равного наклона</a:t>
            </a:r>
            <a:endParaRPr lang="en-US" sz="3000" dirty="0"/>
          </a:p>
        </p:txBody>
      </p:sp>
      <p:sp>
        <p:nvSpPr>
          <p:cNvPr id="3" name="Text 1"/>
          <p:cNvSpPr txBox="1"/>
          <p:nvPr/>
        </p:nvSpPr>
        <p:spPr>
          <a:xfrm>
            <a:off x="457200" y="1097280"/>
            <a:ext cx="4572000" cy="457200"/>
          </a:xfrm>
          <a:prstGeom prst="rect">
            <a:avLst/>
          </a:prstGeom>
          <a:noFill/>
          <a:ln/>
        </p:spPr>
        <p:txBody>
          <a:bodyPr wrap="square" lIns="0" tIns="0" rIns="0" bIns="0" rtlCol="0" anchor="ctr"/>
          <a:lstStyle/>
          <a:p>
            <a:pPr indent="0" marL="0">
              <a:buNone/>
            </a:pPr>
            <a:r>
              <a:rPr lang="en-US" sz="2400" b="1" i="1" dirty="0">
                <a:solidFill>
                  <a:srgbClr val="22C7B0"/>
                </a:solidFill>
                <a:latin typeface="Cambria" pitchFamily="34" charset="0"/>
                <a:ea typeface="Cambria" pitchFamily="34" charset="-122"/>
                <a:cs typeface="Cambria" pitchFamily="34" charset="-120"/>
              </a:rPr>
              <a:t>r² = (f²nλ/d)·(k − 1 + ε)</a:t>
            </a:r>
            <a:endParaRPr lang="en-US" sz="2400" dirty="0"/>
          </a:p>
        </p:txBody>
      </p:sp>
      <p:sp>
        <p:nvSpPr>
          <p:cNvPr id="4" name="Text 2"/>
          <p:cNvSpPr txBox="1"/>
          <p:nvPr/>
        </p:nvSpPr>
        <p:spPr>
          <a:xfrm>
            <a:off x="457200" y="1645920"/>
            <a:ext cx="4754880" cy="365760"/>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Площади зон между кольцами равны: S = πf²nλ/d</a:t>
            </a:r>
            <a:endParaRPr lang="en-US" sz="1600" dirty="0"/>
          </a:p>
        </p:txBody>
      </p:sp>
      <p:sp>
        <p:nvSpPr>
          <p:cNvPr id="5" name="Text 3"/>
          <p:cNvSpPr txBox="1"/>
          <p:nvPr/>
        </p:nvSpPr>
        <p:spPr>
          <a:xfrm>
            <a:off x="457200" y="2240280"/>
            <a:ext cx="4754880" cy="146304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C9D4E5"/>
                </a:solidFill>
                <a:latin typeface="Calibri" pitchFamily="34" charset="0"/>
                <a:ea typeface="Calibri" pitchFamily="34" charset="-122"/>
                <a:cs typeface="Calibri" pitchFamily="34" charset="-120"/>
              </a:rPr>
              <a:t>Радиусы колец растут как √k, кольца сгущаются к краю</a:t>
            </a:r>
            <a:endParaRPr lang="en-US" sz="1400" dirty="0"/>
          </a:p>
          <a:p>
            <a:pPr marL="342900" indent="-342900">
              <a:spcAft>
                <a:spcPts val="800"/>
              </a:spcAft>
              <a:buSzPct val="100000"/>
              <a:buChar char="•"/>
            </a:pPr>
            <a:r>
              <a:rPr lang="en-US" sz="1400" dirty="0">
                <a:solidFill>
                  <a:srgbClr val="C9D4E5"/>
                </a:solidFill>
                <a:latin typeface="Calibri" pitchFamily="34" charset="0"/>
                <a:ea typeface="Calibri" pitchFamily="34" charset="-122"/>
                <a:cs typeface="Calibri" pitchFamily="34" charset="-120"/>
              </a:rPr>
              <a:t>ε — дробная часть порядка в центре (для He-Ne: 0,78)</a:t>
            </a:r>
            <a:endParaRPr lang="en-US" sz="1400" dirty="0"/>
          </a:p>
          <a:p>
            <a:pPr marL="342900" indent="-342900">
              <a:spcAft>
                <a:spcPts val="800"/>
              </a:spcAft>
              <a:buSzPct val="100000"/>
              <a:buChar char="•"/>
            </a:pPr>
            <a:r>
              <a:rPr lang="en-US" sz="1400" dirty="0">
                <a:solidFill>
                  <a:srgbClr val="C9D4E5"/>
                </a:solidFill>
                <a:latin typeface="Calibri" pitchFamily="34" charset="0"/>
                <a:ea typeface="Calibri" pitchFamily="34" charset="-122"/>
                <a:cs typeface="Calibri" pitchFamily="34" charset="-120"/>
              </a:rPr>
              <a:t>Наклон прямой r²(k) даёт длину волны λ</a:t>
            </a:r>
            <a:endParaRPr lang="en-US" sz="1400" dirty="0"/>
          </a:p>
        </p:txBody>
      </p:sp>
      <p:pic>
        <p:nvPicPr>
          <p:cNvPr id="6" name="Image 0" descr="/tmp/claude-0/-home-user-fabry-pertotq/da6804cf-1b2d-5442-843e-f7000ad32be1/scratchpad/deck/rings_R50.png">    </p:cNvPr>
          <p:cNvPicPr>
            <a:picLocks noChangeAspect="1"/>
          </p:cNvPicPr>
          <p:nvPr/>
        </p:nvPicPr>
        <p:blipFill>
          <a:blip r:embed="rId1"/>
          <a:stretch>
            <a:fillRect/>
          </a:stretch>
        </p:blipFill>
        <p:spPr>
          <a:xfrm>
            <a:off x="5394960" y="1188720"/>
            <a:ext cx="1508760" cy="1508760"/>
          </a:xfrm>
          <a:prstGeom prst="rect">
            <a:avLst/>
          </a:prstGeom>
        </p:spPr>
      </p:pic>
      <p:sp>
        <p:nvSpPr>
          <p:cNvPr id="7" name="Text 4"/>
          <p:cNvSpPr txBox="1"/>
          <p:nvPr/>
        </p:nvSpPr>
        <p:spPr>
          <a:xfrm>
            <a:off x="5394960" y="2724912"/>
            <a:ext cx="1508760" cy="228600"/>
          </a:xfrm>
          <a:prstGeom prst="rect">
            <a:avLst/>
          </a:prstGeom>
          <a:noFill/>
          <a:ln/>
        </p:spPr>
        <p:txBody>
          <a:bodyPr wrap="square" lIns="0" tIns="0" rIns="0" bIns="0" rtlCol="0" anchor="ctr"/>
          <a:lstStyle/>
          <a:p>
            <a:pPr algn="ctr" indent="0" marL="0">
              <a:buNone/>
            </a:pPr>
            <a:r>
              <a:rPr lang="en-US" sz="1100" dirty="0">
                <a:solidFill>
                  <a:srgbClr val="8FA0B8"/>
                </a:solidFill>
                <a:latin typeface="Calibri" pitchFamily="34" charset="0"/>
                <a:ea typeface="Calibri" pitchFamily="34" charset="-122"/>
                <a:cs typeface="Calibri" pitchFamily="34" charset="-120"/>
              </a:rPr>
              <a:t>R = 0,5</a:t>
            </a:r>
            <a:endParaRPr lang="en-US" sz="1100" dirty="0"/>
          </a:p>
        </p:txBody>
      </p:sp>
      <p:pic>
        <p:nvPicPr>
          <p:cNvPr id="8" name="Image 1" descr="/tmp/claude-0/-home-user-fabry-pertotq/da6804cf-1b2d-5442-843e-f7000ad32be1/scratchpad/deck/rings_R90.png">    </p:cNvPr>
          <p:cNvPicPr>
            <a:picLocks noChangeAspect="1"/>
          </p:cNvPicPr>
          <p:nvPr/>
        </p:nvPicPr>
        <p:blipFill>
          <a:blip r:embed="rId2"/>
          <a:stretch>
            <a:fillRect/>
          </a:stretch>
        </p:blipFill>
        <p:spPr>
          <a:xfrm>
            <a:off x="7086600" y="1188720"/>
            <a:ext cx="1508760" cy="1508760"/>
          </a:xfrm>
          <a:prstGeom prst="rect">
            <a:avLst/>
          </a:prstGeom>
        </p:spPr>
      </p:pic>
      <p:sp>
        <p:nvSpPr>
          <p:cNvPr id="9" name="Text 5"/>
          <p:cNvSpPr txBox="1"/>
          <p:nvPr/>
        </p:nvSpPr>
        <p:spPr>
          <a:xfrm>
            <a:off x="7086600" y="2724912"/>
            <a:ext cx="1508760" cy="228600"/>
          </a:xfrm>
          <a:prstGeom prst="rect">
            <a:avLst/>
          </a:prstGeom>
          <a:noFill/>
          <a:ln/>
        </p:spPr>
        <p:txBody>
          <a:bodyPr wrap="square" lIns="0" tIns="0" rIns="0" bIns="0" rtlCol="0" anchor="ctr"/>
          <a:lstStyle/>
          <a:p>
            <a:pPr algn="ctr" indent="0" marL="0">
              <a:buNone/>
            </a:pPr>
            <a:r>
              <a:rPr lang="en-US" sz="1100" dirty="0">
                <a:solidFill>
                  <a:srgbClr val="8FA0B8"/>
                </a:solidFill>
                <a:latin typeface="Calibri" pitchFamily="34" charset="0"/>
                <a:ea typeface="Calibri" pitchFamily="34" charset="-122"/>
                <a:cs typeface="Calibri" pitchFamily="34" charset="-120"/>
              </a:rPr>
              <a:t>R = 0,9</a:t>
            </a:r>
            <a:endParaRPr lang="en-US" sz="1100" dirty="0"/>
          </a:p>
        </p:txBody>
      </p:sp>
      <p:pic>
        <p:nvPicPr>
          <p:cNvPr id="10" name="Image 2" descr="/tmp/claude-0/-home-user-fabry-pertotq/da6804cf-1b2d-5442-843e-f7000ad32be1/scratchpad/deck/rings_R98.png">    </p:cNvPr>
          <p:cNvPicPr>
            <a:picLocks noChangeAspect="1"/>
          </p:cNvPicPr>
          <p:nvPr/>
        </p:nvPicPr>
        <p:blipFill>
          <a:blip r:embed="rId3"/>
          <a:stretch>
            <a:fillRect/>
          </a:stretch>
        </p:blipFill>
        <p:spPr>
          <a:xfrm>
            <a:off x="5394960" y="3017520"/>
            <a:ext cx="1508760" cy="1508760"/>
          </a:xfrm>
          <a:prstGeom prst="rect">
            <a:avLst/>
          </a:prstGeom>
        </p:spPr>
      </p:pic>
      <p:sp>
        <p:nvSpPr>
          <p:cNvPr id="11" name="Text 6"/>
          <p:cNvSpPr txBox="1"/>
          <p:nvPr/>
        </p:nvSpPr>
        <p:spPr>
          <a:xfrm>
            <a:off x="5394960" y="4553712"/>
            <a:ext cx="1508760" cy="228600"/>
          </a:xfrm>
          <a:prstGeom prst="rect">
            <a:avLst/>
          </a:prstGeom>
          <a:noFill/>
          <a:ln/>
        </p:spPr>
        <p:txBody>
          <a:bodyPr wrap="square" lIns="0" tIns="0" rIns="0" bIns="0" rtlCol="0" anchor="ctr"/>
          <a:lstStyle/>
          <a:p>
            <a:pPr algn="ctr" indent="0" marL="0">
              <a:buNone/>
            </a:pPr>
            <a:r>
              <a:rPr lang="en-US" sz="1100" dirty="0">
                <a:solidFill>
                  <a:srgbClr val="8FA0B8"/>
                </a:solidFill>
                <a:latin typeface="Calibri" pitchFamily="34" charset="0"/>
                <a:ea typeface="Calibri" pitchFamily="34" charset="-122"/>
                <a:cs typeface="Calibri" pitchFamily="34" charset="-120"/>
              </a:rPr>
              <a:t>R = 0,98</a:t>
            </a:r>
            <a:endParaRPr lang="en-US" sz="1100" dirty="0"/>
          </a:p>
        </p:txBody>
      </p:sp>
      <p:sp>
        <p:nvSpPr>
          <p:cNvPr id="12" name="Text 7"/>
          <p:cNvSpPr txBox="1"/>
          <p:nvPr/>
        </p:nvSpPr>
        <p:spPr>
          <a:xfrm>
            <a:off x="7086600" y="3200400"/>
            <a:ext cx="1600200" cy="1097280"/>
          </a:xfrm>
          <a:prstGeom prst="rect">
            <a:avLst/>
          </a:prstGeom>
          <a:noFill/>
          <a:ln/>
        </p:spPr>
        <p:txBody>
          <a:bodyPr wrap="square" lIns="0" tIns="0" rIns="0" bIns="0" rtlCol="0" anchor="t"/>
          <a:lstStyle/>
          <a:p>
            <a:pPr indent="0" marL="0">
              <a:buNone/>
            </a:pPr>
            <a:r>
              <a:rPr lang="en-US" sz="1100" dirty="0">
                <a:solidFill>
                  <a:srgbClr val="8FA0B8"/>
                </a:solidFill>
                <a:latin typeface="Calibri" pitchFamily="34" charset="0"/>
                <a:ea typeface="Calibri" pitchFamily="34" charset="-122"/>
                <a:cs typeface="Calibri" pitchFamily="34" charset="-120"/>
              </a:rPr>
              <a:t>Чем ближе R к 1, тем тоньше кольца и темнее промежутки</a:t>
            </a:r>
            <a:endParaRPr lang="en-US" sz="1100" dirty="0"/>
          </a:p>
        </p:txBody>
      </p:sp>
      <p:sp>
        <p:nvSpPr>
          <p:cNvPr id="13" name="Text 8"/>
          <p:cNvSpPr txBox="1"/>
          <p:nvPr/>
        </p:nvSpPr>
        <p:spPr>
          <a:xfrm>
            <a:off x="457200" y="4800600"/>
            <a:ext cx="6400800" cy="228600"/>
          </a:xfrm>
          <a:prstGeom prst="rect">
            <a:avLst/>
          </a:prstGeom>
          <a:noFill/>
          <a:ln/>
        </p:spPr>
        <p:txBody>
          <a:bodyPr wrap="square" lIns="0" tIns="0" rIns="0" bIns="0" rtlCol="0" anchor="ctr"/>
          <a:lstStyle/>
          <a:p>
            <a:pPr indent="0" marL="0">
              <a:buNone/>
            </a:pPr>
            <a:r>
              <a:rPr lang="en-US" sz="1000" dirty="0">
                <a:solidFill>
                  <a:srgbClr val="8FA0B8"/>
                </a:solidFill>
                <a:latin typeface="Calibri" pitchFamily="34" charset="0"/>
                <a:ea typeface="Calibri" pitchFamily="34" charset="-122"/>
                <a:cs typeface="Calibri" pitchFamily="34" charset="-120"/>
              </a:rPr>
              <a:t>Интерферометр Фабри — Перо · проект СЭЛФ, МГТУ им. Н. Э. Баумана</a:t>
            </a:r>
            <a:endParaRPr lang="en-US" sz="1000" dirty="0"/>
          </a:p>
        </p:txBody>
      </p:sp>
      <p:sp>
        <p:nvSpPr>
          <p:cNvPr id="14" name="Text 9"/>
          <p:cNvSpPr txBox="1"/>
          <p:nvPr/>
        </p:nvSpPr>
        <p:spPr>
          <a:xfrm>
            <a:off x="8229600" y="4800600"/>
            <a:ext cx="457200" cy="228600"/>
          </a:xfrm>
          <a:prstGeom prst="rect">
            <a:avLst/>
          </a:prstGeom>
          <a:noFill/>
          <a:ln/>
        </p:spPr>
        <p:txBody>
          <a:bodyPr wrap="square" lIns="0" tIns="0" rIns="0" bIns="0" rtlCol="0" anchor="ctr"/>
          <a:lstStyle/>
          <a:p>
            <a:pPr algn="r" indent="0" marL="0">
              <a:buNone/>
            </a:pPr>
            <a:r>
              <a:rPr lang="en-US" sz="1000" dirty="0">
                <a:solidFill>
                  <a:srgbClr val="8FA0B8"/>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t"/>
          <a:lstStyle/>
          <a:p>
            <a:pPr indent="0" marL="0">
              <a:buNone/>
            </a:pPr>
            <a:r>
              <a:rPr lang="en-US" sz="3000" b="1" dirty="0">
                <a:solidFill>
                  <a:srgbClr val="1B2437"/>
                </a:solidFill>
                <a:latin typeface="Cambria" pitchFamily="34" charset="0"/>
                <a:ea typeface="Cambria" pitchFamily="34" charset="-122"/>
                <a:cs typeface="Cambria" pitchFamily="34" charset="-120"/>
              </a:rPr>
              <a:t>Допущения модели и пятно в центре</a:t>
            </a:r>
            <a:endParaRPr lang="en-US" sz="3000" dirty="0"/>
          </a:p>
        </p:txBody>
      </p:sp>
      <p:sp>
        <p:nvSpPr>
          <p:cNvPr id="3" name="Text 1"/>
          <p:cNvSpPr txBox="1"/>
          <p:nvPr/>
        </p:nvSpPr>
        <p:spPr>
          <a:xfrm>
            <a:off x="457200" y="1097280"/>
            <a:ext cx="3931920" cy="365760"/>
          </a:xfrm>
          <a:prstGeom prst="rect">
            <a:avLst/>
          </a:prstGeom>
          <a:noFill/>
          <a:ln/>
        </p:spPr>
        <p:txBody>
          <a:bodyPr wrap="square" lIns="0" tIns="0" rIns="0" bIns="0" rtlCol="0" anchor="ctr"/>
          <a:lstStyle/>
          <a:p>
            <a:pPr indent="0" marL="0">
              <a:buNone/>
            </a:pPr>
            <a:r>
              <a:rPr lang="en-US" sz="2000" b="1" dirty="0">
                <a:solidFill>
                  <a:srgbClr val="1B2437"/>
                </a:solidFill>
                <a:latin typeface="Cambria" pitchFamily="34" charset="0"/>
                <a:ea typeface="Cambria" pitchFamily="34" charset="-122"/>
                <a:cs typeface="Cambria" pitchFamily="34" charset="-120"/>
              </a:rPr>
              <a:t>Допущения</a:t>
            </a:r>
            <a:endParaRPr lang="en-US" sz="2000" dirty="0"/>
          </a:p>
        </p:txBody>
      </p:sp>
      <p:sp>
        <p:nvSpPr>
          <p:cNvPr id="4" name="Text 2"/>
          <p:cNvSpPr txBox="1"/>
          <p:nvPr/>
        </p:nvSpPr>
        <p:spPr>
          <a:xfrm>
            <a:off x="457200" y="1554480"/>
            <a:ext cx="4023360" cy="27432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1B2437"/>
                </a:solidFill>
                <a:latin typeface="Calibri" pitchFamily="34" charset="0"/>
                <a:ea typeface="Calibri" pitchFamily="34" charset="-122"/>
                <a:cs typeface="Calibri" pitchFamily="34" charset="-120"/>
              </a:rPr>
              <a:t>Свет монохроматический, зеркала плоские и параллельные</a:t>
            </a:r>
            <a:endParaRPr lang="en-US" sz="1400" dirty="0"/>
          </a:p>
          <a:p>
            <a:pPr marL="342900" indent="-342900">
              <a:spcAft>
                <a:spcPts val="800"/>
              </a:spcAft>
              <a:buSzPct val="100000"/>
              <a:buChar char="•"/>
            </a:pPr>
            <a:r>
              <a:rPr lang="en-US" sz="1400" dirty="0">
                <a:solidFill>
                  <a:srgbClr val="1B2437"/>
                </a:solidFill>
                <a:latin typeface="Calibri" pitchFamily="34" charset="0"/>
                <a:ea typeface="Calibri" pitchFamily="34" charset="-122"/>
                <a:cs typeface="Calibri" pitchFamily="34" charset="-120"/>
              </a:rPr>
              <a:t>Малые углы: ошибка закона r² ∝ k на краю экрана 0,2 %</a:t>
            </a:r>
            <a:endParaRPr lang="en-US" sz="1400" dirty="0"/>
          </a:p>
          <a:p>
            <a:pPr marL="342900" indent="-342900">
              <a:spcAft>
                <a:spcPts val="800"/>
              </a:spcAft>
              <a:buSzPct val="100000"/>
              <a:buChar char="•"/>
            </a:pPr>
            <a:r>
              <a:rPr lang="en-US" sz="1400" dirty="0">
                <a:solidFill>
                  <a:srgbClr val="1B2437"/>
                </a:solidFill>
                <a:latin typeface="Calibri" pitchFamily="34" charset="0"/>
                <a:ea typeface="Calibri" pitchFamily="34" charset="-122"/>
                <a:cs typeface="Calibri" pitchFamily="34" charset="-120"/>
              </a:rPr>
              <a:t>Поглощение A одинаково у обоих зеркал: Tmax = (1 − R − A)²/(1 − R)²</a:t>
            </a:r>
            <a:endParaRPr lang="en-US" sz="1400" dirty="0"/>
          </a:p>
          <a:p>
            <a:pPr marL="342900" indent="-342900">
              <a:spcAft>
                <a:spcPts val="800"/>
              </a:spcAft>
              <a:buSzPct val="100000"/>
              <a:buChar char="•"/>
            </a:pPr>
            <a:r>
              <a:rPr lang="en-US" sz="1400" dirty="0">
                <a:solidFill>
                  <a:srgbClr val="1B2437"/>
                </a:solidFill>
                <a:latin typeface="Calibri" pitchFamily="34" charset="0"/>
                <a:ea typeface="Calibri" pitchFamily="34" charset="-122"/>
                <a:cs typeface="Calibri" pitchFamily="34" charset="-120"/>
              </a:rPr>
              <a:t>Экран вне фокуса размывает кольца: кружок радиусом 25 мкм при сдвиге 1 мм</a:t>
            </a:r>
            <a:endParaRPr lang="en-US" sz="1400" dirty="0"/>
          </a:p>
        </p:txBody>
      </p:sp>
      <p:sp>
        <p:nvSpPr>
          <p:cNvPr id="5" name="Shape 3"/>
          <p:cNvSpPr/>
          <p:nvPr/>
        </p:nvSpPr>
        <p:spPr>
          <a:xfrm>
            <a:off x="4846320" y="1097280"/>
            <a:ext cx="3840480" cy="3108960"/>
          </a:xfrm>
          <a:prstGeom prst="roundRect">
            <a:avLst>
              <a:gd name="adj" fmla="val 3529"/>
            </a:avLst>
          </a:prstGeom>
          <a:solidFill>
            <a:srgbClr val="EEF3F8"/>
          </a:solidFill>
          <a:ln w="12700">
            <a:solidFill>
              <a:srgbClr val="EEF3F8"/>
            </a:solidFill>
            <a:prstDash val="solid"/>
          </a:ln>
        </p:spPr>
      </p:sp>
      <p:sp>
        <p:nvSpPr>
          <p:cNvPr id="6" name="Text 4"/>
          <p:cNvSpPr txBox="1"/>
          <p:nvPr/>
        </p:nvSpPr>
        <p:spPr>
          <a:xfrm>
            <a:off x="5074920" y="1234440"/>
            <a:ext cx="3383280" cy="640080"/>
          </a:xfrm>
          <a:prstGeom prst="rect">
            <a:avLst/>
          </a:prstGeom>
          <a:noFill/>
          <a:ln/>
        </p:spPr>
        <p:txBody>
          <a:bodyPr wrap="square" lIns="0" tIns="0" rIns="0" bIns="0" rtlCol="0" anchor="ctr"/>
          <a:lstStyle/>
          <a:p>
            <a:pPr indent="0" marL="0">
              <a:buNone/>
            </a:pPr>
            <a:r>
              <a:rPr lang="en-US" sz="1800" b="1" dirty="0">
                <a:solidFill>
                  <a:srgbClr val="1B2437"/>
                </a:solidFill>
                <a:latin typeface="Cambria" pitchFamily="34" charset="0"/>
                <a:ea typeface="Cambria" pitchFamily="34" charset="-122"/>
                <a:cs typeface="Cambria" pitchFamily="34" charset="-120"/>
              </a:rPr>
              <a:t>Пятно в центре: интерференция</a:t>
            </a:r>
            <a:endParaRPr lang="en-US" sz="1800" dirty="0"/>
          </a:p>
        </p:txBody>
      </p:sp>
      <p:sp>
        <p:nvSpPr>
          <p:cNvPr id="7" name="Text 5"/>
          <p:cNvSpPr txBox="1"/>
          <p:nvPr/>
        </p:nvSpPr>
        <p:spPr>
          <a:xfrm>
            <a:off x="5074920" y="1965960"/>
            <a:ext cx="3383280" cy="21488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1B2437"/>
                </a:solidFill>
                <a:latin typeface="Calibri" pitchFamily="34" charset="0"/>
                <a:ea typeface="Calibri" pitchFamily="34" charset="-122"/>
                <a:cs typeface="Calibri" pitchFamily="34" charset="-120"/>
              </a:rPr>
              <a:t>Это место, где разность хода близка к целому числу длин волн</a:t>
            </a:r>
            <a:endParaRPr lang="en-US" sz="1300" dirty="0"/>
          </a:p>
          <a:p>
            <a:pPr marL="342900" indent="-342900">
              <a:spcAft>
                <a:spcPts val="800"/>
              </a:spcAft>
              <a:buSzPct val="100000"/>
              <a:buChar char="•"/>
            </a:pPr>
            <a:r>
              <a:rPr lang="en-US" sz="1300" dirty="0">
                <a:solidFill>
                  <a:srgbClr val="1B2437"/>
                </a:solidFill>
                <a:latin typeface="Calibri" pitchFamily="34" charset="0"/>
                <a:ea typeface="Calibri" pitchFamily="34" charset="-122"/>
                <a:cs typeface="Calibri" pitchFamily="34" charset="-120"/>
              </a:rPr>
              <a:t>Пятно Пуассона — дифракция на диске; у нас — сложение лучей между зеркалами</a:t>
            </a:r>
            <a:endParaRPr lang="en-US" sz="1300" dirty="0"/>
          </a:p>
          <a:p>
            <a:pPr marL="342900" indent="-342900">
              <a:spcAft>
                <a:spcPts val="800"/>
              </a:spcAft>
              <a:buSzPct val="100000"/>
              <a:buChar char="•"/>
            </a:pPr>
            <a:r>
              <a:rPr lang="en-US" sz="1300" dirty="0">
                <a:solidFill>
                  <a:srgbClr val="1B2437"/>
                </a:solidFill>
                <a:latin typeface="Calibri" pitchFamily="34" charset="0"/>
                <a:ea typeface="Calibri" pitchFamily="34" charset="-122"/>
                <a:cs typeface="Calibri" pitchFamily="34" charset="-120"/>
              </a:rPr>
              <a:t>Общее: складываются когерентные волны с учётом фаз</a:t>
            </a:r>
            <a:endParaRPr lang="en-US" sz="1300" dirty="0"/>
          </a:p>
        </p:txBody>
      </p:sp>
      <p:sp>
        <p:nvSpPr>
          <p:cNvPr id="8" name="Text 6"/>
          <p:cNvSpPr txBox="1"/>
          <p:nvPr/>
        </p:nvSpPr>
        <p:spPr>
          <a:xfrm>
            <a:off x="457200" y="4800600"/>
            <a:ext cx="6400800" cy="228600"/>
          </a:xfrm>
          <a:prstGeom prst="rect">
            <a:avLst/>
          </a:prstGeom>
          <a:noFill/>
          <a:ln/>
        </p:spPr>
        <p:txBody>
          <a:bodyPr wrap="square" lIns="0" tIns="0" rIns="0" bIns="0" rtlCol="0" anchor="ctr"/>
          <a:lstStyle/>
          <a:p>
            <a:pPr indent="0" marL="0">
              <a:buNone/>
            </a:pPr>
            <a:r>
              <a:rPr lang="en-US" sz="1000" dirty="0">
                <a:solidFill>
                  <a:srgbClr val="5B6678"/>
                </a:solidFill>
                <a:latin typeface="Calibri" pitchFamily="34" charset="0"/>
                <a:ea typeface="Calibri" pitchFamily="34" charset="-122"/>
                <a:cs typeface="Calibri" pitchFamily="34" charset="-120"/>
              </a:rPr>
              <a:t>Интерферометр Фабри — Перо · проект СЭЛФ, МГТУ им. Н. Э. Баумана</a:t>
            </a:r>
            <a:endParaRPr lang="en-US" sz="1000" dirty="0"/>
          </a:p>
        </p:txBody>
      </p:sp>
      <p:sp>
        <p:nvSpPr>
          <p:cNvPr id="9" name="Text 7"/>
          <p:cNvSpPr txBox="1"/>
          <p:nvPr/>
        </p:nvSpPr>
        <p:spPr>
          <a:xfrm>
            <a:off x="8229600" y="4800600"/>
            <a:ext cx="457200" cy="228600"/>
          </a:xfrm>
          <a:prstGeom prst="rect">
            <a:avLst/>
          </a:prstGeom>
          <a:noFill/>
          <a:ln/>
        </p:spPr>
        <p:txBody>
          <a:bodyPr wrap="square" lIns="0" tIns="0" rIns="0" bIns="0" rtlCol="0" anchor="ctr"/>
          <a:lstStyle/>
          <a:p>
            <a:pPr algn="r" indent="0" marL="0">
              <a:buNone/>
            </a:pPr>
            <a:r>
              <a:rPr lang="en-US" sz="1000" dirty="0">
                <a:solidFill>
                  <a:srgbClr val="5B6678"/>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t"/>
          <a:lstStyle/>
          <a:p>
            <a:pPr indent="0" marL="0">
              <a:buNone/>
            </a:pPr>
            <a:r>
              <a:rPr lang="en-US" sz="3000" b="1" dirty="0">
                <a:solidFill>
                  <a:srgbClr val="1B2437"/>
                </a:solidFill>
                <a:latin typeface="Cambria" pitchFamily="34" charset="0"/>
                <a:ea typeface="Cambria" pitchFamily="34" charset="-122"/>
                <a:cs typeface="Cambria" pitchFamily="34" charset="-120"/>
              </a:rPr>
              <a:t>Три способа измерить длину волны</a:t>
            </a:r>
            <a:endParaRPr lang="en-US" sz="3000" dirty="0"/>
          </a:p>
        </p:txBody>
      </p:sp>
      <p:sp>
        <p:nvSpPr>
          <p:cNvPr id="3" name="Shape 1"/>
          <p:cNvSpPr/>
          <p:nvPr/>
        </p:nvSpPr>
        <p:spPr>
          <a:xfrm>
            <a:off x="457200" y="1143000"/>
            <a:ext cx="5120640" cy="749808"/>
          </a:xfrm>
          <a:prstGeom prst="roundRect">
            <a:avLst>
              <a:gd name="adj" fmla="val 12195"/>
            </a:avLst>
          </a:prstGeom>
          <a:solidFill>
            <a:srgbClr val="EEF3F8"/>
          </a:solidFill>
          <a:ln w="12700">
            <a:solidFill>
              <a:srgbClr val="EEF3F8"/>
            </a:solidFill>
            <a:prstDash val="solid"/>
          </a:ln>
        </p:spPr>
      </p:sp>
      <p:sp>
        <p:nvSpPr>
          <p:cNvPr id="4" name="Text 2"/>
          <p:cNvSpPr txBox="1"/>
          <p:nvPr/>
        </p:nvSpPr>
        <p:spPr>
          <a:xfrm>
            <a:off x="640080" y="1216152"/>
            <a:ext cx="4754880" cy="274320"/>
          </a:xfrm>
          <a:prstGeom prst="rect">
            <a:avLst/>
          </a:prstGeom>
          <a:noFill/>
          <a:ln/>
        </p:spPr>
        <p:txBody>
          <a:bodyPr wrap="square" lIns="0" tIns="0" rIns="0" bIns="0" rtlCol="0" anchor="ctr"/>
          <a:lstStyle/>
          <a:p>
            <a:pPr indent="0" marL="0">
              <a:buNone/>
            </a:pPr>
            <a:r>
              <a:rPr lang="en-US" sz="1500" b="1" dirty="0">
                <a:solidFill>
                  <a:srgbClr val="1B2437"/>
                </a:solidFill>
                <a:latin typeface="Cambria" pitchFamily="34" charset="0"/>
                <a:ea typeface="Cambria" pitchFamily="34" charset="-122"/>
                <a:cs typeface="Cambria" pitchFamily="34" charset="-120"/>
              </a:rPr>
              <a:t>По расстоянию между пиками</a:t>
            </a:r>
            <a:endParaRPr lang="en-US" sz="1500" dirty="0"/>
          </a:p>
        </p:txBody>
      </p:sp>
      <p:sp>
        <p:nvSpPr>
          <p:cNvPr id="5" name="Text 3"/>
          <p:cNvSpPr txBox="1"/>
          <p:nvPr/>
        </p:nvSpPr>
        <p:spPr>
          <a:xfrm>
            <a:off x="640080" y="1508760"/>
            <a:ext cx="4754880" cy="329184"/>
          </a:xfrm>
          <a:prstGeom prst="rect">
            <a:avLst/>
          </a:prstGeom>
          <a:noFill/>
          <a:ln/>
        </p:spPr>
        <p:txBody>
          <a:bodyPr wrap="square" lIns="0" tIns="0" rIns="0" bIns="0" rtlCol="0" anchor="t"/>
          <a:lstStyle/>
          <a:p>
            <a:pPr indent="0" marL="0">
              <a:buNone/>
            </a:pPr>
            <a:r>
              <a:rPr lang="en-US" sz="1200" dirty="0">
                <a:solidFill>
                  <a:srgbClr val="5B6678"/>
                </a:solidFill>
                <a:latin typeface="Calibri" pitchFamily="34" charset="0"/>
                <a:ea typeface="Calibri" pitchFamily="34" charset="-122"/>
                <a:cs typeface="Calibri" pitchFamily="34" charset="-120"/>
              </a:rPr>
              <a:t>Δλ = λ²/(2nd): по прямой Δλ(1/d) наклон b = λ²/(2n)</a:t>
            </a:r>
            <a:endParaRPr lang="en-US" sz="1200" dirty="0"/>
          </a:p>
        </p:txBody>
      </p:sp>
      <p:sp>
        <p:nvSpPr>
          <p:cNvPr id="6" name="Shape 4"/>
          <p:cNvSpPr/>
          <p:nvPr/>
        </p:nvSpPr>
        <p:spPr>
          <a:xfrm>
            <a:off x="457200" y="2011680"/>
            <a:ext cx="5120640" cy="749808"/>
          </a:xfrm>
          <a:prstGeom prst="roundRect">
            <a:avLst>
              <a:gd name="adj" fmla="val 12195"/>
            </a:avLst>
          </a:prstGeom>
          <a:solidFill>
            <a:srgbClr val="EEF3F8"/>
          </a:solidFill>
          <a:ln w="12700">
            <a:solidFill>
              <a:srgbClr val="EEF3F8"/>
            </a:solidFill>
            <a:prstDash val="solid"/>
          </a:ln>
        </p:spPr>
      </p:sp>
      <p:sp>
        <p:nvSpPr>
          <p:cNvPr id="7" name="Text 5"/>
          <p:cNvSpPr txBox="1"/>
          <p:nvPr/>
        </p:nvSpPr>
        <p:spPr>
          <a:xfrm>
            <a:off x="640080" y="2084832"/>
            <a:ext cx="4754880" cy="274320"/>
          </a:xfrm>
          <a:prstGeom prst="rect">
            <a:avLst/>
          </a:prstGeom>
          <a:noFill/>
          <a:ln/>
        </p:spPr>
        <p:txBody>
          <a:bodyPr wrap="square" lIns="0" tIns="0" rIns="0" bIns="0" rtlCol="0" anchor="ctr"/>
          <a:lstStyle/>
          <a:p>
            <a:pPr indent="0" marL="0">
              <a:buNone/>
            </a:pPr>
            <a:r>
              <a:rPr lang="en-US" sz="1500" b="1" dirty="0">
                <a:solidFill>
                  <a:srgbClr val="1B2437"/>
                </a:solidFill>
                <a:latin typeface="Cambria" pitchFamily="34" charset="0"/>
                <a:ea typeface="Cambria" pitchFamily="34" charset="-122"/>
                <a:cs typeface="Cambria" pitchFamily="34" charset="-120"/>
              </a:rPr>
              <a:t>По радиусам колец</a:t>
            </a:r>
            <a:endParaRPr lang="en-US" sz="1500" dirty="0"/>
          </a:p>
        </p:txBody>
      </p:sp>
      <p:sp>
        <p:nvSpPr>
          <p:cNvPr id="8" name="Text 6"/>
          <p:cNvSpPr txBox="1"/>
          <p:nvPr/>
        </p:nvSpPr>
        <p:spPr>
          <a:xfrm>
            <a:off x="640080" y="2377440"/>
            <a:ext cx="4754880" cy="329184"/>
          </a:xfrm>
          <a:prstGeom prst="rect">
            <a:avLst/>
          </a:prstGeom>
          <a:noFill/>
          <a:ln/>
        </p:spPr>
        <p:txBody>
          <a:bodyPr wrap="square" lIns="0" tIns="0" rIns="0" bIns="0" rtlCol="0" anchor="t"/>
          <a:lstStyle/>
          <a:p>
            <a:pPr indent="0" marL="0">
              <a:buNone/>
            </a:pPr>
            <a:r>
              <a:rPr lang="en-US" sz="1200" dirty="0">
                <a:solidFill>
                  <a:srgbClr val="5B6678"/>
                </a:solidFill>
                <a:latin typeface="Calibri" pitchFamily="34" charset="0"/>
                <a:ea typeface="Calibri" pitchFamily="34" charset="-122"/>
                <a:cs typeface="Calibri" pitchFamily="34" charset="-120"/>
              </a:rPr>
              <a:t>r² = (f²nλ/d)·k: по наклону прямой находится λ</a:t>
            </a:r>
            <a:endParaRPr lang="en-US" sz="1200" dirty="0"/>
          </a:p>
        </p:txBody>
      </p:sp>
      <p:sp>
        <p:nvSpPr>
          <p:cNvPr id="9" name="Shape 7"/>
          <p:cNvSpPr/>
          <p:nvPr/>
        </p:nvSpPr>
        <p:spPr>
          <a:xfrm>
            <a:off x="457200" y="2880360"/>
            <a:ext cx="5120640" cy="749808"/>
          </a:xfrm>
          <a:prstGeom prst="roundRect">
            <a:avLst>
              <a:gd name="adj" fmla="val 12195"/>
            </a:avLst>
          </a:prstGeom>
          <a:solidFill>
            <a:srgbClr val="EEF3F8"/>
          </a:solidFill>
          <a:ln w="12700">
            <a:solidFill>
              <a:srgbClr val="EEF3F8"/>
            </a:solidFill>
            <a:prstDash val="solid"/>
          </a:ln>
        </p:spPr>
      </p:sp>
      <p:sp>
        <p:nvSpPr>
          <p:cNvPr id="10" name="Text 8"/>
          <p:cNvSpPr txBox="1"/>
          <p:nvPr/>
        </p:nvSpPr>
        <p:spPr>
          <a:xfrm>
            <a:off x="640080" y="2953512"/>
            <a:ext cx="4754880" cy="274320"/>
          </a:xfrm>
          <a:prstGeom prst="rect">
            <a:avLst/>
          </a:prstGeom>
          <a:noFill/>
          <a:ln/>
        </p:spPr>
        <p:txBody>
          <a:bodyPr wrap="square" lIns="0" tIns="0" rIns="0" bIns="0" rtlCol="0" anchor="ctr"/>
          <a:lstStyle/>
          <a:p>
            <a:pPr indent="0" marL="0">
              <a:buNone/>
            </a:pPr>
            <a:r>
              <a:rPr lang="en-US" sz="1500" b="1" dirty="0">
                <a:solidFill>
                  <a:srgbClr val="1B2437"/>
                </a:solidFill>
                <a:latin typeface="Cambria" pitchFamily="34" charset="0"/>
                <a:ea typeface="Cambria" pitchFamily="34" charset="-122"/>
                <a:cs typeface="Cambria" pitchFamily="34" charset="-120"/>
              </a:rPr>
              <a:t>По сдвигу зеркала</a:t>
            </a:r>
            <a:endParaRPr lang="en-US" sz="1500" dirty="0"/>
          </a:p>
        </p:txBody>
      </p:sp>
      <p:sp>
        <p:nvSpPr>
          <p:cNvPr id="11" name="Text 9"/>
          <p:cNvSpPr txBox="1"/>
          <p:nvPr/>
        </p:nvSpPr>
        <p:spPr>
          <a:xfrm>
            <a:off x="640080" y="3246120"/>
            <a:ext cx="4754880" cy="329184"/>
          </a:xfrm>
          <a:prstGeom prst="rect">
            <a:avLst/>
          </a:prstGeom>
          <a:noFill/>
          <a:ln/>
        </p:spPr>
        <p:txBody>
          <a:bodyPr wrap="square" lIns="0" tIns="0" rIns="0" bIns="0" rtlCol="0" anchor="t"/>
          <a:lstStyle/>
          <a:p>
            <a:pPr indent="0" marL="0">
              <a:buNone/>
            </a:pPr>
            <a:r>
              <a:rPr lang="en-US" sz="1200" dirty="0">
                <a:solidFill>
                  <a:srgbClr val="5B6678"/>
                </a:solidFill>
                <a:latin typeface="Calibri" pitchFamily="34" charset="0"/>
                <a:ea typeface="Calibri" pitchFamily="34" charset="-122"/>
                <a:cs typeface="Calibri" pitchFamily="34" charset="-120"/>
              </a:rPr>
              <a:t>каждые λ/2 в центре появляется новое кольцо: наклон b = λ/(2n)</a:t>
            </a:r>
            <a:endParaRPr lang="en-US" sz="1200" dirty="0"/>
          </a:p>
        </p:txBody>
      </p:sp>
      <p:sp>
        <p:nvSpPr>
          <p:cNvPr id="12" name="Text 10"/>
          <p:cNvSpPr txBox="1"/>
          <p:nvPr/>
        </p:nvSpPr>
        <p:spPr>
          <a:xfrm>
            <a:off x="457200" y="3794760"/>
            <a:ext cx="5120640" cy="731520"/>
          </a:xfrm>
          <a:prstGeom prst="rect">
            <a:avLst/>
          </a:prstGeom>
          <a:noFill/>
          <a:ln/>
        </p:spPr>
        <p:txBody>
          <a:bodyPr wrap="square" lIns="0" tIns="0" rIns="0" bIns="0" rtlCol="0" anchor="t"/>
          <a:lstStyle/>
          <a:p>
            <a:pPr indent="0" marL="0">
              <a:buNone/>
            </a:pPr>
            <a:r>
              <a:rPr lang="en-US" sz="1300" dirty="0">
                <a:solidFill>
                  <a:srgbClr val="1B2437"/>
                </a:solidFill>
                <a:latin typeface="Calibri" pitchFamily="34" charset="0"/>
                <a:ea typeface="Calibri" pitchFamily="34" charset="-122"/>
                <a:cs typeface="Calibri" pitchFamily="34" charset="-120"/>
              </a:rPr>
              <a:t>Прямая проводится методом наименьших квадратов, погрешность — по коэффициенту Стьюдента. Пример: скрытая λ = 454,6 нм, найдено (456,7 ± 2,3) нм — ошибка около 0,5 %</a:t>
            </a:r>
            <a:endParaRPr lang="en-US" sz="1300" dirty="0"/>
          </a:p>
        </p:txBody>
      </p:sp>
      <p:pic>
        <p:nvPicPr>
          <p:cNvPr id="13" name="Image 0" descr="/tmp/claude-0/-home-user-fabry-pertotq/da6804cf-1b2d-5442-843e-f7000ad32be1/scratchpad/deck/lab.png">    </p:cNvPr>
          <p:cNvPicPr>
            <a:picLocks noChangeAspect="1"/>
          </p:cNvPicPr>
          <p:nvPr/>
        </p:nvPicPr>
        <p:blipFill>
          <a:blip r:embed="rId1"/>
          <a:stretch>
            <a:fillRect/>
          </a:stretch>
        </p:blipFill>
        <p:spPr>
          <a:xfrm>
            <a:off x="5806440" y="1143000"/>
            <a:ext cx="2880360" cy="1728216"/>
          </a:xfrm>
          <a:prstGeom prst="rect">
            <a:avLst/>
          </a:prstGeom>
        </p:spPr>
      </p:pic>
      <p:sp>
        <p:nvSpPr>
          <p:cNvPr id="14" name="Text 11"/>
          <p:cNvSpPr txBox="1"/>
          <p:nvPr/>
        </p:nvSpPr>
        <p:spPr>
          <a:xfrm>
            <a:off x="5806440" y="2971800"/>
            <a:ext cx="2880360" cy="640080"/>
          </a:xfrm>
          <a:prstGeom prst="rect">
            <a:avLst/>
          </a:prstGeom>
          <a:noFill/>
          <a:ln/>
        </p:spPr>
        <p:txBody>
          <a:bodyPr wrap="square" lIns="0" tIns="0" rIns="0" bIns="0" rtlCol="0" anchor="t"/>
          <a:lstStyle/>
          <a:p>
            <a:pPr indent="0" marL="0">
              <a:buNone/>
            </a:pPr>
            <a:r>
              <a:rPr lang="en-US" sz="1100" dirty="0">
                <a:solidFill>
                  <a:srgbClr val="5B6678"/>
                </a:solidFill>
                <a:latin typeface="Calibri" pitchFamily="34" charset="0"/>
                <a:ea typeface="Calibri" pitchFamily="34" charset="-122"/>
                <a:cs typeface="Calibri" pitchFamily="34" charset="-120"/>
              </a:rPr>
              <a:t>Виртуальная лабораторная: 7 заданий, 30 вариантов со скрытыми λ и A</a:t>
            </a:r>
            <a:endParaRPr lang="en-US" sz="1100" dirty="0"/>
          </a:p>
        </p:txBody>
      </p:sp>
      <p:sp>
        <p:nvSpPr>
          <p:cNvPr id="15" name="Text 12"/>
          <p:cNvSpPr txBox="1"/>
          <p:nvPr/>
        </p:nvSpPr>
        <p:spPr>
          <a:xfrm>
            <a:off x="457200" y="4800600"/>
            <a:ext cx="6400800" cy="228600"/>
          </a:xfrm>
          <a:prstGeom prst="rect">
            <a:avLst/>
          </a:prstGeom>
          <a:noFill/>
          <a:ln/>
        </p:spPr>
        <p:txBody>
          <a:bodyPr wrap="square" lIns="0" tIns="0" rIns="0" bIns="0" rtlCol="0" anchor="ctr"/>
          <a:lstStyle/>
          <a:p>
            <a:pPr indent="0" marL="0">
              <a:buNone/>
            </a:pPr>
            <a:r>
              <a:rPr lang="en-US" sz="1000" dirty="0">
                <a:solidFill>
                  <a:srgbClr val="5B6678"/>
                </a:solidFill>
                <a:latin typeface="Calibri" pitchFamily="34" charset="0"/>
                <a:ea typeface="Calibri" pitchFamily="34" charset="-122"/>
                <a:cs typeface="Calibri" pitchFamily="34" charset="-120"/>
              </a:rPr>
              <a:t>Интерферометр Фабри — Перо · проект СЭЛФ, МГТУ им. Н. Э. Баумана</a:t>
            </a:r>
            <a:endParaRPr lang="en-US" sz="1000" dirty="0"/>
          </a:p>
        </p:txBody>
      </p:sp>
      <p:sp>
        <p:nvSpPr>
          <p:cNvPr id="16" name="Text 13"/>
          <p:cNvSpPr txBox="1"/>
          <p:nvPr/>
        </p:nvSpPr>
        <p:spPr>
          <a:xfrm>
            <a:off x="8229600" y="4800600"/>
            <a:ext cx="457200" cy="228600"/>
          </a:xfrm>
          <a:prstGeom prst="rect">
            <a:avLst/>
          </a:prstGeom>
          <a:noFill/>
          <a:ln/>
        </p:spPr>
        <p:txBody>
          <a:bodyPr wrap="square" lIns="0" tIns="0" rIns="0" bIns="0" rtlCol="0" anchor="ctr"/>
          <a:lstStyle/>
          <a:p>
            <a:pPr algn="r" indent="0" marL="0">
              <a:buNone/>
            </a:pPr>
            <a:r>
              <a:rPr lang="en-US" sz="1000" dirty="0">
                <a:solidFill>
                  <a:srgbClr val="5B6678"/>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1220"/>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Проверка, программа, команда</a:t>
            </a:r>
            <a:endParaRPr lang="en-US" sz="3000" dirty="0"/>
          </a:p>
        </p:txBody>
      </p:sp>
      <p:sp>
        <p:nvSpPr>
          <p:cNvPr id="3" name="Shape 1"/>
          <p:cNvSpPr/>
          <p:nvPr/>
        </p:nvSpPr>
        <p:spPr>
          <a:xfrm>
            <a:off x="457200" y="1143000"/>
            <a:ext cx="2606040" cy="1417320"/>
          </a:xfrm>
          <a:prstGeom prst="roundRect">
            <a:avLst>
              <a:gd name="adj" fmla="val 7742"/>
            </a:avLst>
          </a:prstGeom>
          <a:solidFill>
            <a:srgbClr val="141E33"/>
          </a:solidFill>
          <a:ln w="12700">
            <a:solidFill>
              <a:srgbClr val="141E33"/>
            </a:solidFill>
            <a:prstDash val="solid"/>
          </a:ln>
        </p:spPr>
      </p:sp>
      <p:sp>
        <p:nvSpPr>
          <p:cNvPr id="4" name="Text 2"/>
          <p:cNvSpPr txBox="1"/>
          <p:nvPr/>
        </p:nvSpPr>
        <p:spPr>
          <a:xfrm>
            <a:off x="685800" y="1280160"/>
            <a:ext cx="2148840" cy="548640"/>
          </a:xfrm>
          <a:prstGeom prst="rect">
            <a:avLst/>
          </a:prstGeom>
          <a:noFill/>
          <a:ln/>
        </p:spPr>
        <p:txBody>
          <a:bodyPr wrap="square" lIns="0" tIns="0" rIns="0" bIns="0" rtlCol="0" anchor="ctr"/>
          <a:lstStyle/>
          <a:p>
            <a:pPr indent="0" marL="0">
              <a:buNone/>
            </a:pPr>
            <a:r>
              <a:rPr lang="en-US" sz="2800" b="1" dirty="0">
                <a:solidFill>
                  <a:srgbClr val="22C7B0"/>
                </a:solidFill>
                <a:latin typeface="Cambria" pitchFamily="34" charset="0"/>
                <a:ea typeface="Cambria" pitchFamily="34" charset="-122"/>
                <a:cs typeface="Cambria" pitchFamily="34" charset="-120"/>
              </a:rPr>
              <a:t>800 лучей</a:t>
            </a:r>
            <a:endParaRPr lang="en-US" sz="2800" dirty="0"/>
          </a:p>
        </p:txBody>
      </p:sp>
      <p:sp>
        <p:nvSpPr>
          <p:cNvPr id="5" name="Text 3"/>
          <p:cNvSpPr txBox="1"/>
          <p:nvPr/>
        </p:nvSpPr>
        <p:spPr>
          <a:xfrm>
            <a:off x="685800" y="1874520"/>
            <a:ext cx="2148840" cy="594360"/>
          </a:xfrm>
          <a:prstGeom prst="rect">
            <a:avLst/>
          </a:prstGeom>
          <a:noFill/>
          <a:ln/>
        </p:spPr>
        <p:txBody>
          <a:bodyPr wrap="square" lIns="0" tIns="0" rIns="0" bIns="0" rtlCol="0" anchor="t"/>
          <a:lstStyle/>
          <a:p>
            <a:pPr indent="0" marL="0">
              <a:buNone/>
            </a:pPr>
            <a:r>
              <a:rPr lang="en-US" sz="1300" dirty="0">
                <a:solidFill>
                  <a:srgbClr val="C9D4E5"/>
                </a:solidFill>
                <a:latin typeface="Calibri" pitchFamily="34" charset="0"/>
                <a:ea typeface="Calibri" pitchFamily="34" charset="-122"/>
                <a:cs typeface="Calibri" pitchFamily="34" charset="-120"/>
              </a:rPr>
              <a:t>прямое сложение совпадает с формулой Эйри</a:t>
            </a:r>
            <a:endParaRPr lang="en-US" sz="1300" dirty="0"/>
          </a:p>
        </p:txBody>
      </p:sp>
      <p:sp>
        <p:nvSpPr>
          <p:cNvPr id="6" name="Shape 4"/>
          <p:cNvSpPr/>
          <p:nvPr/>
        </p:nvSpPr>
        <p:spPr>
          <a:xfrm>
            <a:off x="3246120" y="1143000"/>
            <a:ext cx="2606040" cy="1417320"/>
          </a:xfrm>
          <a:prstGeom prst="roundRect">
            <a:avLst>
              <a:gd name="adj" fmla="val 7742"/>
            </a:avLst>
          </a:prstGeom>
          <a:solidFill>
            <a:srgbClr val="141E33"/>
          </a:solidFill>
          <a:ln w="12700">
            <a:solidFill>
              <a:srgbClr val="141E33"/>
            </a:solidFill>
            <a:prstDash val="solid"/>
          </a:ln>
        </p:spPr>
      </p:sp>
      <p:sp>
        <p:nvSpPr>
          <p:cNvPr id="7" name="Text 5"/>
          <p:cNvSpPr txBox="1"/>
          <p:nvPr/>
        </p:nvSpPr>
        <p:spPr>
          <a:xfrm>
            <a:off x="3474720" y="1280160"/>
            <a:ext cx="2148840" cy="548640"/>
          </a:xfrm>
          <a:prstGeom prst="rect">
            <a:avLst/>
          </a:prstGeom>
          <a:noFill/>
          <a:ln/>
        </p:spPr>
        <p:txBody>
          <a:bodyPr wrap="square" lIns="0" tIns="0" rIns="0" bIns="0" rtlCol="0" anchor="ctr"/>
          <a:lstStyle/>
          <a:p>
            <a:pPr indent="0" marL="0">
              <a:buNone/>
            </a:pPr>
            <a:r>
              <a:rPr lang="en-US" sz="2800" b="1" dirty="0">
                <a:solidFill>
                  <a:srgbClr val="22C7B0"/>
                </a:solidFill>
                <a:latin typeface="Cambria" pitchFamily="34" charset="0"/>
                <a:ea typeface="Cambria" pitchFamily="34" charset="-122"/>
                <a:cs typeface="Cambria" pitchFamily="34" charset="-120"/>
              </a:rPr>
              <a:t>&lt; 0,1 %</a:t>
            </a:r>
            <a:endParaRPr lang="en-US" sz="2800" dirty="0"/>
          </a:p>
        </p:txBody>
      </p:sp>
      <p:sp>
        <p:nvSpPr>
          <p:cNvPr id="8" name="Text 6"/>
          <p:cNvSpPr txBox="1"/>
          <p:nvPr/>
        </p:nvSpPr>
        <p:spPr>
          <a:xfrm>
            <a:off x="3474720" y="1874520"/>
            <a:ext cx="2148840" cy="594360"/>
          </a:xfrm>
          <a:prstGeom prst="rect">
            <a:avLst/>
          </a:prstGeom>
          <a:noFill/>
          <a:ln/>
        </p:spPr>
        <p:txBody>
          <a:bodyPr wrap="square" lIns="0" tIns="0" rIns="0" bIns="0" rtlCol="0" anchor="t"/>
          <a:lstStyle/>
          <a:p>
            <a:pPr indent="0" marL="0">
              <a:buNone/>
            </a:pPr>
            <a:r>
              <a:rPr lang="en-US" sz="1300" dirty="0">
                <a:solidFill>
                  <a:srgbClr val="C9D4E5"/>
                </a:solidFill>
                <a:latin typeface="Calibri" pitchFamily="34" charset="0"/>
                <a:ea typeface="Calibri" pitchFamily="34" charset="-122"/>
                <a:cs typeface="Calibri" pitchFamily="34" charset="-120"/>
              </a:rPr>
              <a:t>расхождение модели и точных формул</a:t>
            </a:r>
            <a:endParaRPr lang="en-US" sz="1300" dirty="0"/>
          </a:p>
        </p:txBody>
      </p:sp>
      <p:sp>
        <p:nvSpPr>
          <p:cNvPr id="9" name="Shape 7"/>
          <p:cNvSpPr/>
          <p:nvPr/>
        </p:nvSpPr>
        <p:spPr>
          <a:xfrm>
            <a:off x="6035040" y="1143000"/>
            <a:ext cx="2606040" cy="1417320"/>
          </a:xfrm>
          <a:prstGeom prst="roundRect">
            <a:avLst>
              <a:gd name="adj" fmla="val 7742"/>
            </a:avLst>
          </a:prstGeom>
          <a:solidFill>
            <a:srgbClr val="141E33"/>
          </a:solidFill>
          <a:ln w="12700">
            <a:solidFill>
              <a:srgbClr val="141E33"/>
            </a:solidFill>
            <a:prstDash val="solid"/>
          </a:ln>
        </p:spPr>
      </p:sp>
      <p:sp>
        <p:nvSpPr>
          <p:cNvPr id="10" name="Text 8"/>
          <p:cNvSpPr txBox="1"/>
          <p:nvPr/>
        </p:nvSpPr>
        <p:spPr>
          <a:xfrm>
            <a:off x="6263640" y="1280160"/>
            <a:ext cx="2148840" cy="548640"/>
          </a:xfrm>
          <a:prstGeom prst="rect">
            <a:avLst/>
          </a:prstGeom>
          <a:noFill/>
          <a:ln/>
        </p:spPr>
        <p:txBody>
          <a:bodyPr wrap="square" lIns="0" tIns="0" rIns="0" bIns="0" rtlCol="0" anchor="ctr"/>
          <a:lstStyle/>
          <a:p>
            <a:pPr indent="0" marL="0">
              <a:buNone/>
            </a:pPr>
            <a:r>
              <a:rPr lang="en-US" sz="2800" b="1" dirty="0">
                <a:solidFill>
                  <a:srgbClr val="22C7B0"/>
                </a:solidFill>
                <a:latin typeface="Cambria" pitchFamily="34" charset="0"/>
                <a:ea typeface="Cambria" pitchFamily="34" charset="-122"/>
                <a:cs typeface="Cambria" pitchFamily="34" charset="-120"/>
              </a:rPr>
              <a:t>30 тестов</a:t>
            </a:r>
            <a:endParaRPr lang="en-US" sz="2800" dirty="0"/>
          </a:p>
        </p:txBody>
      </p:sp>
      <p:sp>
        <p:nvSpPr>
          <p:cNvPr id="11" name="Text 9"/>
          <p:cNvSpPr txBox="1"/>
          <p:nvPr/>
        </p:nvSpPr>
        <p:spPr>
          <a:xfrm>
            <a:off x="6263640" y="1874520"/>
            <a:ext cx="2148840" cy="594360"/>
          </a:xfrm>
          <a:prstGeom prst="rect">
            <a:avLst/>
          </a:prstGeom>
          <a:noFill/>
          <a:ln/>
        </p:spPr>
        <p:txBody>
          <a:bodyPr wrap="square" lIns="0" tIns="0" rIns="0" bIns="0" rtlCol="0" anchor="t"/>
          <a:lstStyle/>
          <a:p>
            <a:pPr indent="0" marL="0">
              <a:buNone/>
            </a:pPr>
            <a:r>
              <a:rPr lang="en-US" sz="1300" dirty="0">
                <a:solidFill>
                  <a:srgbClr val="C9D4E5"/>
                </a:solidFill>
                <a:latin typeface="Calibri" pitchFamily="34" charset="0"/>
                <a:ea typeface="Calibri" pitchFamily="34" charset="-122"/>
                <a:cs typeface="Calibri" pitchFamily="34" charset="-120"/>
              </a:rPr>
              <a:t>проверяют расчёты автоматически</a:t>
            </a:r>
            <a:endParaRPr lang="en-US" sz="1300" dirty="0"/>
          </a:p>
        </p:txBody>
      </p:sp>
      <p:sp>
        <p:nvSpPr>
          <p:cNvPr id="12" name="Text 10"/>
          <p:cNvSpPr txBox="1"/>
          <p:nvPr/>
        </p:nvSpPr>
        <p:spPr>
          <a:xfrm>
            <a:off x="457200" y="2788920"/>
            <a:ext cx="8229600" cy="32004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Модель реализована на Python и работает на Windows, macOS и Linux</a:t>
            </a:r>
            <a:endParaRPr lang="en-US" sz="1400" dirty="0"/>
          </a:p>
        </p:txBody>
      </p:sp>
      <p:sp>
        <p:nvSpPr>
          <p:cNvPr id="13" name="Text 11"/>
          <p:cNvSpPr txBox="1"/>
          <p:nvPr/>
        </p:nvSpPr>
        <p:spPr>
          <a:xfrm>
            <a:off x="457200" y="3291840"/>
            <a:ext cx="8229600" cy="365760"/>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Артём Кузнецов · Егор Сидоренко · Илья Кадников</a:t>
            </a:r>
            <a:endParaRPr lang="en-US" sz="2000" dirty="0"/>
          </a:p>
        </p:txBody>
      </p:sp>
      <p:sp>
        <p:nvSpPr>
          <p:cNvPr id="14" name="Text 12"/>
          <p:cNvSpPr txBox="1"/>
          <p:nvPr/>
        </p:nvSpPr>
        <p:spPr>
          <a:xfrm>
            <a:off x="457200" y="3749040"/>
            <a:ext cx="8229600" cy="457200"/>
          </a:xfrm>
          <a:prstGeom prst="rect">
            <a:avLst/>
          </a:prstGeom>
          <a:noFill/>
          <a:ln/>
        </p:spPr>
        <p:txBody>
          <a:bodyPr wrap="square" lIns="0" tIns="0" rIns="0" bIns="0" rtlCol="0" anchor="t"/>
          <a:lstStyle/>
          <a:p>
            <a:pPr indent="0" marL="0">
              <a:buNone/>
            </a:pPr>
            <a:r>
              <a:rPr lang="en-US" sz="1400" dirty="0">
                <a:solidFill>
                  <a:srgbClr val="22C7B0"/>
                </a:solidFill>
                <a:latin typeface="Calibri" pitchFamily="34" charset="0"/>
                <a:ea typeface="Calibri" pitchFamily="34" charset="-122"/>
                <a:cs typeface="Calibri" pitchFamily="34" charset="-120"/>
              </a:rPr>
              <a:t>Дальше: проверить работу на группе студентов; добавить интерферометры Майкельсона и Юнга</a:t>
            </a:r>
            <a:endParaRPr lang="en-US" sz="1400" dirty="0"/>
          </a:p>
        </p:txBody>
      </p:sp>
      <p:sp>
        <p:nvSpPr>
          <p:cNvPr id="15" name="Text 13"/>
          <p:cNvSpPr txBox="1"/>
          <p:nvPr/>
        </p:nvSpPr>
        <p:spPr>
          <a:xfrm>
            <a:off x="457200" y="4800600"/>
            <a:ext cx="6400800" cy="228600"/>
          </a:xfrm>
          <a:prstGeom prst="rect">
            <a:avLst/>
          </a:prstGeom>
          <a:noFill/>
          <a:ln/>
        </p:spPr>
        <p:txBody>
          <a:bodyPr wrap="square" lIns="0" tIns="0" rIns="0" bIns="0" rtlCol="0" anchor="ctr"/>
          <a:lstStyle/>
          <a:p>
            <a:pPr indent="0" marL="0">
              <a:buNone/>
            </a:pPr>
            <a:r>
              <a:rPr lang="en-US" sz="1000" dirty="0">
                <a:solidFill>
                  <a:srgbClr val="8FA0B8"/>
                </a:solidFill>
                <a:latin typeface="Calibri" pitchFamily="34" charset="0"/>
                <a:ea typeface="Calibri" pitchFamily="34" charset="-122"/>
                <a:cs typeface="Calibri" pitchFamily="34" charset="-120"/>
              </a:rPr>
              <a:t>Интерферометр Фабри — Перо · проект СЭЛФ, МГТУ им. Н. Э. Баумана</a:t>
            </a:r>
            <a:endParaRPr lang="en-US" sz="1000" dirty="0"/>
          </a:p>
        </p:txBody>
      </p:sp>
      <p:sp>
        <p:nvSpPr>
          <p:cNvPr id="16" name="Text 14"/>
          <p:cNvSpPr txBox="1"/>
          <p:nvPr/>
        </p:nvSpPr>
        <p:spPr>
          <a:xfrm>
            <a:off x="8229600" y="4800600"/>
            <a:ext cx="457200" cy="228600"/>
          </a:xfrm>
          <a:prstGeom prst="rect">
            <a:avLst/>
          </a:prstGeom>
          <a:noFill/>
          <a:ln/>
        </p:spPr>
        <p:txBody>
          <a:bodyPr wrap="square" lIns="0" tIns="0" rIns="0" bIns="0" rtlCol="0" anchor="ctr"/>
          <a:lstStyle/>
          <a:p>
            <a:pPr algn="r" indent="0" marL="0">
              <a:buNone/>
            </a:pPr>
            <a:r>
              <a:rPr lang="en-US" sz="1000" dirty="0">
                <a:solidFill>
                  <a:srgbClr val="8FA0B8"/>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Интерферометр Фабри — Перо</dc:title>
  <dc:subject>PptxGenJS Presentation</dc:subject>
  <dc:creator>Сидоренко Е. К., Кузнецов А. В., Кадников И. В.</dc:creator>
  <cp:lastModifiedBy>Сидоренко Е. К., Кузнецов А. В., Кадников И. В.</cp:lastModifiedBy>
  <cp:revision>1</cp:revision>
  <dcterms:created xsi:type="dcterms:W3CDTF">2026-10-16T20:49:01Z</dcterms:created>
  <dcterms:modified xsi:type="dcterms:W3CDTF">2026-10-16T20:49:01Z</dcterms:modified>
</cp:coreProperties>
</file>